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6"/>
  </p:notesMasterIdLst>
  <p:sldIdLst>
    <p:sldId id="259" r:id="rId3"/>
    <p:sldId id="277" r:id="rId4"/>
    <p:sldId id="257" r:id="rId5"/>
    <p:sldId id="258" r:id="rId6"/>
    <p:sldId id="260" r:id="rId7"/>
    <p:sldId id="261" r:id="rId8"/>
    <p:sldId id="280" r:id="rId9"/>
    <p:sldId id="274" r:id="rId10"/>
    <p:sldId id="264" r:id="rId11"/>
    <p:sldId id="265" r:id="rId12"/>
    <p:sldId id="266" r:id="rId13"/>
    <p:sldId id="267" r:id="rId14"/>
    <p:sldId id="268" r:id="rId15"/>
    <p:sldId id="284" r:id="rId16"/>
    <p:sldId id="262" r:id="rId17"/>
    <p:sldId id="263" r:id="rId18"/>
    <p:sldId id="269" r:id="rId19"/>
    <p:sldId id="278" r:id="rId20"/>
    <p:sldId id="271" r:id="rId21"/>
    <p:sldId id="270" r:id="rId22"/>
    <p:sldId id="281" r:id="rId23"/>
    <p:sldId id="288" r:id="rId24"/>
    <p:sldId id="289" r:id="rId25"/>
    <p:sldId id="273" r:id="rId26"/>
    <p:sldId id="272" r:id="rId27"/>
    <p:sldId id="275" r:id="rId28"/>
    <p:sldId id="276" r:id="rId29"/>
    <p:sldId id="279" r:id="rId30"/>
    <p:sldId id="282" r:id="rId31"/>
    <p:sldId id="283" r:id="rId32"/>
    <p:sldId id="285" r:id="rId33"/>
    <p:sldId id="286" r:id="rId34"/>
    <p:sldId id="287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71" d="100"/>
          <a:sy n="71" d="100"/>
        </p:scale>
        <p:origin x="62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geert\Documents\Data\GitHub\training-material\CPlusPlus\Tbb\timing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geert\Documents\Data\GitHub\training-material\CPlusPlus\Tbb\timing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Book2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Book2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Book2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Book2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Book2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Book2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speedup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0469816272965886E-2"/>
          <c:y val="0.30076443569553807"/>
          <c:w val="0.89019685039370078"/>
          <c:h val="0.61498432487605714"/>
        </c:manualLayout>
      </c:layout>
      <c:scatterChart>
        <c:scatterStyle val="smoothMarker"/>
        <c:varyColors val="0"/>
        <c:ser>
          <c:idx val="0"/>
          <c:order val="0"/>
          <c:tx>
            <c:strRef>
              <c:f>julia_set!$C$1</c:f>
              <c:strCache>
                <c:ptCount val="1"/>
                <c:pt idx="0">
                  <c:v>omp speedup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julia_set!$A$2:$A$14</c:f>
              <c:numCache>
                <c:formatCode>General</c:formatCode>
                <c:ptCount val="13"/>
                <c:pt idx="0">
                  <c:v>36</c:v>
                </c:pt>
                <c:pt idx="1">
                  <c:v>32</c:v>
                </c:pt>
                <c:pt idx="2">
                  <c:v>30</c:v>
                </c:pt>
                <c:pt idx="3">
                  <c:v>24</c:v>
                </c:pt>
                <c:pt idx="4">
                  <c:v>18</c:v>
                </c:pt>
                <c:pt idx="5">
                  <c:v>16</c:v>
                </c:pt>
                <c:pt idx="6">
                  <c:v>12</c:v>
                </c:pt>
                <c:pt idx="7">
                  <c:v>8</c:v>
                </c:pt>
                <c:pt idx="8">
                  <c:v>6</c:v>
                </c:pt>
                <c:pt idx="9">
                  <c:v>4</c:v>
                </c:pt>
                <c:pt idx="10">
                  <c:v>2</c:v>
                </c:pt>
                <c:pt idx="11">
                  <c:v>1</c:v>
                </c:pt>
              </c:numCache>
            </c:numRef>
          </c:xVal>
          <c:yVal>
            <c:numRef>
              <c:f>julia_set!$C$2:$C$14</c:f>
              <c:numCache>
                <c:formatCode>General</c:formatCode>
                <c:ptCount val="13"/>
                <c:pt idx="0">
                  <c:v>8.3984771573604071</c:v>
                </c:pt>
                <c:pt idx="1">
                  <c:v>7.7676056338028179</c:v>
                </c:pt>
                <c:pt idx="2">
                  <c:v>7.320796460176993</c:v>
                </c:pt>
                <c:pt idx="3">
                  <c:v>5.9729241877256323</c:v>
                </c:pt>
                <c:pt idx="4">
                  <c:v>4.5204918032786887</c:v>
                </c:pt>
                <c:pt idx="5">
                  <c:v>4.0902348578491967</c:v>
                </c:pt>
                <c:pt idx="6">
                  <c:v>3.1335227272727275</c:v>
                </c:pt>
                <c:pt idx="7">
                  <c:v>2.3926247288503255</c:v>
                </c:pt>
                <c:pt idx="8">
                  <c:v>2.0824417872876024</c:v>
                </c:pt>
                <c:pt idx="9">
                  <c:v>1.9138230190861774</c:v>
                </c:pt>
                <c:pt idx="10">
                  <c:v>1.900631820792648</c:v>
                </c:pt>
                <c:pt idx="11">
                  <c:v>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447D-4C7A-8A6D-A45907440B9B}"/>
            </c:ext>
          </c:extLst>
        </c:ser>
        <c:ser>
          <c:idx val="1"/>
          <c:order val="1"/>
          <c:tx>
            <c:strRef>
              <c:f>julia_set!$F$1</c:f>
              <c:strCache>
                <c:ptCount val="1"/>
                <c:pt idx="0">
                  <c:v>tbb speedup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julia_set!$A$2:$A$14</c:f>
              <c:numCache>
                <c:formatCode>General</c:formatCode>
                <c:ptCount val="13"/>
                <c:pt idx="0">
                  <c:v>36</c:v>
                </c:pt>
                <c:pt idx="1">
                  <c:v>32</c:v>
                </c:pt>
                <c:pt idx="2">
                  <c:v>30</c:v>
                </c:pt>
                <c:pt idx="3">
                  <c:v>24</c:v>
                </c:pt>
                <c:pt idx="4">
                  <c:v>18</c:v>
                </c:pt>
                <c:pt idx="5">
                  <c:v>16</c:v>
                </c:pt>
                <c:pt idx="6">
                  <c:v>12</c:v>
                </c:pt>
                <c:pt idx="7">
                  <c:v>8</c:v>
                </c:pt>
                <c:pt idx="8">
                  <c:v>6</c:v>
                </c:pt>
                <c:pt idx="9">
                  <c:v>4</c:v>
                </c:pt>
                <c:pt idx="10">
                  <c:v>2</c:v>
                </c:pt>
                <c:pt idx="11">
                  <c:v>1</c:v>
                </c:pt>
              </c:numCache>
            </c:numRef>
          </c:xVal>
          <c:yVal>
            <c:numRef>
              <c:f>julia_set!$F$2:$F$14</c:f>
              <c:numCache>
                <c:formatCode>General</c:formatCode>
                <c:ptCount val="13"/>
                <c:pt idx="0">
                  <c:v>23.805755395683459</c:v>
                </c:pt>
                <c:pt idx="1">
                  <c:v>22.060000000000002</c:v>
                </c:pt>
                <c:pt idx="2">
                  <c:v>21.348387096774196</c:v>
                </c:pt>
                <c:pt idx="3">
                  <c:v>17.234375000000004</c:v>
                </c:pt>
                <c:pt idx="4">
                  <c:v>13.236000000000001</c:v>
                </c:pt>
                <c:pt idx="5">
                  <c:v>12.076642335766424</c:v>
                </c:pt>
                <c:pt idx="6">
                  <c:v>9.7899408284023686</c:v>
                </c:pt>
                <c:pt idx="7">
                  <c:v>7.0254777070063703</c:v>
                </c:pt>
                <c:pt idx="8">
                  <c:v>5.3370967741935491</c:v>
                </c:pt>
                <c:pt idx="9">
                  <c:v>3.6362637362637367</c:v>
                </c:pt>
                <c:pt idx="10">
                  <c:v>1.8897772701313535</c:v>
                </c:pt>
                <c:pt idx="11">
                  <c:v>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447D-4C7A-8A6D-A45907440B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31705672"/>
        <c:axId val="531698784"/>
      </c:scatterChart>
      <c:valAx>
        <c:axId val="5317056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1698784"/>
        <c:crosses val="autoZero"/>
        <c:crossBetween val="midCat"/>
      </c:valAx>
      <c:valAx>
        <c:axId val="5316987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170567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efficiency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julia_set!$D$1</c:f>
              <c:strCache>
                <c:ptCount val="1"/>
                <c:pt idx="0">
                  <c:v>omp efficiency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julia_set!$A$2:$A$14</c:f>
              <c:numCache>
                <c:formatCode>General</c:formatCode>
                <c:ptCount val="13"/>
                <c:pt idx="0">
                  <c:v>36</c:v>
                </c:pt>
                <c:pt idx="1">
                  <c:v>32</c:v>
                </c:pt>
                <c:pt idx="2">
                  <c:v>30</c:v>
                </c:pt>
                <c:pt idx="3">
                  <c:v>24</c:v>
                </c:pt>
                <c:pt idx="4">
                  <c:v>18</c:v>
                </c:pt>
                <c:pt idx="5">
                  <c:v>16</c:v>
                </c:pt>
                <c:pt idx="6">
                  <c:v>12</c:v>
                </c:pt>
                <c:pt idx="7">
                  <c:v>8</c:v>
                </c:pt>
                <c:pt idx="8">
                  <c:v>6</c:v>
                </c:pt>
                <c:pt idx="9">
                  <c:v>4</c:v>
                </c:pt>
                <c:pt idx="10">
                  <c:v>2</c:v>
                </c:pt>
                <c:pt idx="11">
                  <c:v>1</c:v>
                </c:pt>
              </c:numCache>
            </c:numRef>
          </c:xVal>
          <c:yVal>
            <c:numRef>
              <c:f>julia_set!$D$2:$D$14</c:f>
              <c:numCache>
                <c:formatCode>General</c:formatCode>
                <c:ptCount val="13"/>
                <c:pt idx="0">
                  <c:v>0.23329103214890021</c:v>
                </c:pt>
                <c:pt idx="1">
                  <c:v>0.24273767605633806</c:v>
                </c:pt>
                <c:pt idx="2">
                  <c:v>0.24402654867256643</c:v>
                </c:pt>
                <c:pt idx="3">
                  <c:v>0.24887184115523467</c:v>
                </c:pt>
                <c:pt idx="4">
                  <c:v>0.25113843351548271</c:v>
                </c:pt>
                <c:pt idx="5">
                  <c:v>0.25563967861557479</c:v>
                </c:pt>
                <c:pt idx="6">
                  <c:v>0.26112689393939398</c:v>
                </c:pt>
                <c:pt idx="7">
                  <c:v>0.29907809110629069</c:v>
                </c:pt>
                <c:pt idx="8">
                  <c:v>0.34707363121460039</c:v>
                </c:pt>
                <c:pt idx="9">
                  <c:v>0.47845575477154434</c:v>
                </c:pt>
                <c:pt idx="10">
                  <c:v>0.95031591039632402</c:v>
                </c:pt>
                <c:pt idx="11">
                  <c:v>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73ED-435B-B432-369E8E7995D2}"/>
            </c:ext>
          </c:extLst>
        </c:ser>
        <c:ser>
          <c:idx val="1"/>
          <c:order val="1"/>
          <c:tx>
            <c:strRef>
              <c:f>julia_set!$G$1</c:f>
              <c:strCache>
                <c:ptCount val="1"/>
                <c:pt idx="0">
                  <c:v>tbb efficiency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julia_set!$A$2:$A$14</c:f>
              <c:numCache>
                <c:formatCode>General</c:formatCode>
                <c:ptCount val="13"/>
                <c:pt idx="0">
                  <c:v>36</c:v>
                </c:pt>
                <c:pt idx="1">
                  <c:v>32</c:v>
                </c:pt>
                <c:pt idx="2">
                  <c:v>30</c:v>
                </c:pt>
                <c:pt idx="3">
                  <c:v>24</c:v>
                </c:pt>
                <c:pt idx="4">
                  <c:v>18</c:v>
                </c:pt>
                <c:pt idx="5">
                  <c:v>16</c:v>
                </c:pt>
                <c:pt idx="6">
                  <c:v>12</c:v>
                </c:pt>
                <c:pt idx="7">
                  <c:v>8</c:v>
                </c:pt>
                <c:pt idx="8">
                  <c:v>6</c:v>
                </c:pt>
                <c:pt idx="9">
                  <c:v>4</c:v>
                </c:pt>
                <c:pt idx="10">
                  <c:v>2</c:v>
                </c:pt>
                <c:pt idx="11">
                  <c:v>1</c:v>
                </c:pt>
              </c:numCache>
            </c:numRef>
          </c:xVal>
          <c:yVal>
            <c:numRef>
              <c:f>julia_set!$G$2:$G$14</c:f>
              <c:numCache>
                <c:formatCode>General</c:formatCode>
                <c:ptCount val="13"/>
                <c:pt idx="0">
                  <c:v>0.66127098321342936</c:v>
                </c:pt>
                <c:pt idx="1">
                  <c:v>0.68937500000000007</c:v>
                </c:pt>
                <c:pt idx="2">
                  <c:v>0.7116129032258065</c:v>
                </c:pt>
                <c:pt idx="3">
                  <c:v>0.71809895833333348</c:v>
                </c:pt>
                <c:pt idx="4">
                  <c:v>0.73533333333333339</c:v>
                </c:pt>
                <c:pt idx="5">
                  <c:v>0.75479014598540151</c:v>
                </c:pt>
                <c:pt idx="6">
                  <c:v>0.81582840236686405</c:v>
                </c:pt>
                <c:pt idx="7">
                  <c:v>0.87818471337579629</c:v>
                </c:pt>
                <c:pt idx="8">
                  <c:v>0.88951612903225818</c:v>
                </c:pt>
                <c:pt idx="9">
                  <c:v>0.90906593406593417</c:v>
                </c:pt>
                <c:pt idx="10">
                  <c:v>0.94488863506567677</c:v>
                </c:pt>
                <c:pt idx="11">
                  <c:v>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73ED-435B-B432-369E8E7995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35746576"/>
        <c:axId val="535743624"/>
      </c:scatterChart>
      <c:valAx>
        <c:axId val="53574657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5743624"/>
        <c:crosses val="autoZero"/>
        <c:crossBetween val="midCat"/>
      </c:valAx>
      <c:valAx>
        <c:axId val="535743624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5746576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walltime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fibonacci!$B$1</c:f>
              <c:strCache>
                <c:ptCount val="1"/>
                <c:pt idx="0">
                  <c:v>time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fibonacci!$A$2:$A$13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12</c:v>
                </c:pt>
                <c:pt idx="6">
                  <c:v>16</c:v>
                </c:pt>
                <c:pt idx="7">
                  <c:v>18</c:v>
                </c:pt>
                <c:pt idx="8">
                  <c:v>24</c:v>
                </c:pt>
                <c:pt idx="9">
                  <c:v>30</c:v>
                </c:pt>
                <c:pt idx="10">
                  <c:v>32</c:v>
                </c:pt>
                <c:pt idx="11">
                  <c:v>36</c:v>
                </c:pt>
              </c:numCache>
            </c:numRef>
          </c:xVal>
          <c:yVal>
            <c:numRef>
              <c:f>fibonacci!$B$2:$B$13</c:f>
              <c:numCache>
                <c:formatCode>General</c:formatCode>
                <c:ptCount val="12"/>
                <c:pt idx="0">
                  <c:v>20.030633000000002</c:v>
                </c:pt>
                <c:pt idx="1">
                  <c:v>10.648066999999999</c:v>
                </c:pt>
                <c:pt idx="2">
                  <c:v>5.3506999999999998</c:v>
                </c:pt>
                <c:pt idx="3">
                  <c:v>3.659367</c:v>
                </c:pt>
                <c:pt idx="4">
                  <c:v>2.7399269999999998</c:v>
                </c:pt>
                <c:pt idx="5">
                  <c:v>1.986737</c:v>
                </c:pt>
                <c:pt idx="6">
                  <c:v>1.5236529999999999</c:v>
                </c:pt>
                <c:pt idx="7">
                  <c:v>1.376293</c:v>
                </c:pt>
                <c:pt idx="8">
                  <c:v>1.0624830000000001</c:v>
                </c:pt>
                <c:pt idx="9">
                  <c:v>0.99292999999999998</c:v>
                </c:pt>
                <c:pt idx="10">
                  <c:v>0.89115</c:v>
                </c:pt>
                <c:pt idx="11">
                  <c:v>0.75756999999999997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F0DB-4E72-A1E3-AE9AE8D15C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67984024"/>
        <c:axId val="367987632"/>
      </c:scatterChart>
      <c:valAx>
        <c:axId val="36798402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7987632"/>
        <c:crosses val="autoZero"/>
        <c:crossBetween val="midCat"/>
      </c:valAx>
      <c:valAx>
        <c:axId val="3679876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7984024"/>
        <c:crosses val="autoZero"/>
        <c:crossBetween val="midCat"/>
      </c:valAx>
      <c:spPr>
        <a:noFill/>
        <a:ln>
          <a:solidFill>
            <a:schemeClr val="accent2"/>
          </a:solidFill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fibonacci!$C$1</c:f>
              <c:strCache>
                <c:ptCount val="1"/>
                <c:pt idx="0">
                  <c:v>speedup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fibonacci!$A$2:$A$13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12</c:v>
                </c:pt>
                <c:pt idx="6">
                  <c:v>16</c:v>
                </c:pt>
                <c:pt idx="7">
                  <c:v>18</c:v>
                </c:pt>
                <c:pt idx="8">
                  <c:v>24</c:v>
                </c:pt>
                <c:pt idx="9">
                  <c:v>30</c:v>
                </c:pt>
                <c:pt idx="10">
                  <c:v>32</c:v>
                </c:pt>
                <c:pt idx="11">
                  <c:v>36</c:v>
                </c:pt>
              </c:numCache>
            </c:numRef>
          </c:xVal>
          <c:yVal>
            <c:numRef>
              <c:f>fibonacci!$C$2:$C$13</c:f>
              <c:numCache>
                <c:formatCode>General</c:formatCode>
                <c:ptCount val="12"/>
                <c:pt idx="0">
                  <c:v>1</c:v>
                </c:pt>
                <c:pt idx="1">
                  <c:v>1.8811520438404457</c:v>
                </c:pt>
                <c:pt idx="2">
                  <c:v>3.7435537406320671</c:v>
                </c:pt>
                <c:pt idx="3">
                  <c:v>5.4737972441681855</c:v>
                </c:pt>
                <c:pt idx="4">
                  <c:v>7.3106447726527035</c:v>
                </c:pt>
                <c:pt idx="5">
                  <c:v>10.082176453149058</c:v>
                </c:pt>
                <c:pt idx="6">
                  <c:v>13.146453293499244</c:v>
                </c:pt>
                <c:pt idx="7">
                  <c:v>14.554046994353675</c:v>
                </c:pt>
                <c:pt idx="8">
                  <c:v>18.852662113182046</c:v>
                </c:pt>
                <c:pt idx="9">
                  <c:v>20.173257933590488</c:v>
                </c:pt>
                <c:pt idx="10">
                  <c:v>22.477285529933233</c:v>
                </c:pt>
                <c:pt idx="11">
                  <c:v>26.440636508837471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1070-4FEC-9B36-399F434989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92241768"/>
        <c:axId val="492243080"/>
      </c:scatterChart>
      <c:valAx>
        <c:axId val="49224176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2243080"/>
        <c:crosses val="autoZero"/>
        <c:crossBetween val="midCat"/>
      </c:valAx>
      <c:valAx>
        <c:axId val="4922430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22417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fibonacci!$D$1</c:f>
              <c:strCache>
                <c:ptCount val="1"/>
                <c:pt idx="0">
                  <c:v>efficiency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fibonacci!$A$2:$A$13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12</c:v>
                </c:pt>
                <c:pt idx="6">
                  <c:v>16</c:v>
                </c:pt>
                <c:pt idx="7">
                  <c:v>18</c:v>
                </c:pt>
                <c:pt idx="8">
                  <c:v>24</c:v>
                </c:pt>
                <c:pt idx="9">
                  <c:v>30</c:v>
                </c:pt>
                <c:pt idx="10">
                  <c:v>32</c:v>
                </c:pt>
                <c:pt idx="11">
                  <c:v>36</c:v>
                </c:pt>
              </c:numCache>
            </c:numRef>
          </c:xVal>
          <c:yVal>
            <c:numRef>
              <c:f>fibonacci!$D$2:$D$13</c:f>
              <c:numCache>
                <c:formatCode>General</c:formatCode>
                <c:ptCount val="12"/>
                <c:pt idx="0">
                  <c:v>1</c:v>
                </c:pt>
                <c:pt idx="1">
                  <c:v>0.94057602192022283</c:v>
                </c:pt>
                <c:pt idx="2">
                  <c:v>0.93588843515801678</c:v>
                </c:pt>
                <c:pt idx="3">
                  <c:v>0.91229954069469754</c:v>
                </c:pt>
                <c:pt idx="4">
                  <c:v>0.91383059658158794</c:v>
                </c:pt>
                <c:pt idx="5">
                  <c:v>0.84018137109575486</c:v>
                </c:pt>
                <c:pt idx="6">
                  <c:v>0.82165333084370273</c:v>
                </c:pt>
                <c:pt idx="7">
                  <c:v>0.80855816635298194</c:v>
                </c:pt>
                <c:pt idx="8">
                  <c:v>0.78552758804925193</c:v>
                </c:pt>
                <c:pt idx="9">
                  <c:v>0.67244193111968298</c:v>
                </c:pt>
                <c:pt idx="10">
                  <c:v>0.70241517281041355</c:v>
                </c:pt>
                <c:pt idx="11">
                  <c:v>0.73446212524548526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AB93-47DC-885C-C39E84BC0F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99225704"/>
        <c:axId val="499226360"/>
      </c:scatterChart>
      <c:valAx>
        <c:axId val="49922570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9226360"/>
        <c:crosses val="autoZero"/>
        <c:crossBetween val="midCat"/>
      </c:valAx>
      <c:valAx>
        <c:axId val="499226360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922570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walltime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trees!$B$1</c:f>
              <c:strCache>
                <c:ptCount val="1"/>
                <c:pt idx="0">
                  <c:v>time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trees!$A$2:$A$13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12</c:v>
                </c:pt>
                <c:pt idx="6">
                  <c:v>16</c:v>
                </c:pt>
                <c:pt idx="7">
                  <c:v>18</c:v>
                </c:pt>
                <c:pt idx="8">
                  <c:v>24</c:v>
                </c:pt>
                <c:pt idx="9">
                  <c:v>30</c:v>
                </c:pt>
                <c:pt idx="10">
                  <c:v>32</c:v>
                </c:pt>
                <c:pt idx="11">
                  <c:v>36</c:v>
                </c:pt>
              </c:numCache>
            </c:numRef>
          </c:xVal>
          <c:yVal>
            <c:numRef>
              <c:f>trees!$B$2:$B$13</c:f>
              <c:numCache>
                <c:formatCode>General</c:formatCode>
                <c:ptCount val="12"/>
                <c:pt idx="0">
                  <c:v>1.1018669999999999</c:v>
                </c:pt>
                <c:pt idx="1">
                  <c:v>0.54954999999999998</c:v>
                </c:pt>
                <c:pt idx="2">
                  <c:v>0.28401100000000001</c:v>
                </c:pt>
                <c:pt idx="3">
                  <c:v>0.19414600000000001</c:v>
                </c:pt>
                <c:pt idx="4">
                  <c:v>0.14652299999999999</c:v>
                </c:pt>
                <c:pt idx="5">
                  <c:v>0.102962</c:v>
                </c:pt>
                <c:pt idx="6">
                  <c:v>8.3775000000000002E-2</c:v>
                </c:pt>
                <c:pt idx="7">
                  <c:v>7.9021999999999995E-2</c:v>
                </c:pt>
                <c:pt idx="8">
                  <c:v>0.16186800000000001</c:v>
                </c:pt>
                <c:pt idx="9">
                  <c:v>0.13520199999999999</c:v>
                </c:pt>
                <c:pt idx="10">
                  <c:v>0.13769300000000001</c:v>
                </c:pt>
                <c:pt idx="11">
                  <c:v>0.102128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B1C3-4561-A35C-BC8FC99FE6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51292544"/>
        <c:axId val="1451291888"/>
      </c:scatterChart>
      <c:valAx>
        <c:axId val="145129254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51291888"/>
        <c:crosses val="autoZero"/>
        <c:crossBetween val="midCat"/>
      </c:valAx>
      <c:valAx>
        <c:axId val="14512918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5129254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trees!$C$1</c:f>
              <c:strCache>
                <c:ptCount val="1"/>
                <c:pt idx="0">
                  <c:v>speedup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trees!$A$2:$A$13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12</c:v>
                </c:pt>
                <c:pt idx="6">
                  <c:v>16</c:v>
                </c:pt>
                <c:pt idx="7">
                  <c:v>18</c:v>
                </c:pt>
                <c:pt idx="8">
                  <c:v>24</c:v>
                </c:pt>
                <c:pt idx="9">
                  <c:v>30</c:v>
                </c:pt>
                <c:pt idx="10">
                  <c:v>32</c:v>
                </c:pt>
                <c:pt idx="11">
                  <c:v>36</c:v>
                </c:pt>
              </c:numCache>
            </c:numRef>
          </c:xVal>
          <c:yVal>
            <c:numRef>
              <c:f>trees!$C$2:$C$13</c:f>
              <c:numCache>
                <c:formatCode>General</c:formatCode>
                <c:ptCount val="12"/>
                <c:pt idx="0">
                  <c:v>1</c:v>
                </c:pt>
                <c:pt idx="1">
                  <c:v>2.0050350286598126</c:v>
                </c:pt>
                <c:pt idx="2">
                  <c:v>3.8796631116400415</c:v>
                </c:pt>
                <c:pt idx="3">
                  <c:v>5.6754555849721333</c:v>
                </c:pt>
                <c:pt idx="4">
                  <c:v>7.520095821133884</c:v>
                </c:pt>
                <c:pt idx="5">
                  <c:v>10.701686058934364</c:v>
                </c:pt>
                <c:pt idx="6">
                  <c:v>13.152694717994628</c:v>
                </c:pt>
                <c:pt idx="7">
                  <c:v>13.943800460631216</c:v>
                </c:pt>
                <c:pt idx="8">
                  <c:v>6.8071947512788187</c:v>
                </c:pt>
                <c:pt idx="9">
                  <c:v>8.1497832872294786</c:v>
                </c:pt>
                <c:pt idx="10">
                  <c:v>8.0023457982613486</c:v>
                </c:pt>
                <c:pt idx="11">
                  <c:v>10.789078411405296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B8AC-4FAE-8983-D3667DF6C9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95666216"/>
        <c:axId val="495663920"/>
      </c:scatterChart>
      <c:valAx>
        <c:axId val="4956662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5663920"/>
        <c:crosses val="autoZero"/>
        <c:crossBetween val="midCat"/>
      </c:valAx>
      <c:valAx>
        <c:axId val="4956639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566621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trees!$D$1</c:f>
              <c:strCache>
                <c:ptCount val="1"/>
                <c:pt idx="0">
                  <c:v>efficiency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trees!$A$2:$A$13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12</c:v>
                </c:pt>
                <c:pt idx="6">
                  <c:v>16</c:v>
                </c:pt>
                <c:pt idx="7">
                  <c:v>18</c:v>
                </c:pt>
                <c:pt idx="8">
                  <c:v>24</c:v>
                </c:pt>
                <c:pt idx="9">
                  <c:v>30</c:v>
                </c:pt>
                <c:pt idx="10">
                  <c:v>32</c:v>
                </c:pt>
                <c:pt idx="11">
                  <c:v>36</c:v>
                </c:pt>
              </c:numCache>
            </c:numRef>
          </c:xVal>
          <c:yVal>
            <c:numRef>
              <c:f>trees!$D$2:$D$13</c:f>
              <c:numCache>
                <c:formatCode>General</c:formatCode>
                <c:ptCount val="12"/>
                <c:pt idx="0">
                  <c:v>1</c:v>
                </c:pt>
                <c:pt idx="1">
                  <c:v>1.0025175143299063</c:v>
                </c:pt>
                <c:pt idx="2">
                  <c:v>0.96991577791001038</c:v>
                </c:pt>
                <c:pt idx="3">
                  <c:v>0.94590926416202226</c:v>
                </c:pt>
                <c:pt idx="4">
                  <c:v>0.9400119776417355</c:v>
                </c:pt>
                <c:pt idx="5">
                  <c:v>0.8918071715778636</c:v>
                </c:pt>
                <c:pt idx="6">
                  <c:v>0.82204341987466423</c:v>
                </c:pt>
                <c:pt idx="7">
                  <c:v>0.77465558114617872</c:v>
                </c:pt>
                <c:pt idx="8">
                  <c:v>0.28363311463661744</c:v>
                </c:pt>
                <c:pt idx="9">
                  <c:v>0.27165944290764926</c:v>
                </c:pt>
                <c:pt idx="10">
                  <c:v>0.25007330619566714</c:v>
                </c:pt>
                <c:pt idx="11">
                  <c:v>0.29969662253903601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CB0C-493A-915E-F8B80B353A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39487"/>
        <c:axId val="439159"/>
      </c:scatterChart>
      <c:valAx>
        <c:axId val="43948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9159"/>
        <c:crosses val="autoZero"/>
        <c:crossBetween val="midCat"/>
      </c:valAx>
      <c:valAx>
        <c:axId val="4391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9487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A559F6-5B7D-4313-A416-AF59A4E68915}" type="datetimeFigureOut">
              <a:rPr lang="en-US" smtClean="0"/>
              <a:t>2026-05-06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5BBC49-73FB-490E-90F7-6ADF8B612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657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AA852-CFF9-48BA-A628-AE9DB7CB9A88}" type="datetime1">
              <a:rPr lang="en-US" smtClean="0"/>
              <a:t>2026-05-06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72FA-F273-424C-AEFD-E3BF6973D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999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0FBB2-602E-4B42-A747-9CF7EF118304}" type="datetime1">
              <a:rPr lang="en-US" smtClean="0"/>
              <a:t>2026-05-06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72FA-F273-424C-AEFD-E3BF6973D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353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9213C-A76D-4936-9EE8-1986AC361683}" type="datetime1">
              <a:rPr lang="en-US" smtClean="0"/>
              <a:t>2026-05-06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72FA-F273-424C-AEFD-E3BF6973D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037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FB339-1FD7-4DAE-BB11-806F6BD9CFA9}" type="datetime1">
              <a:rPr lang="en-US" smtClean="0"/>
              <a:t>2026-05-06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72FA-F273-424C-AEFD-E3BF6973D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170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F55F6-D9C4-4241-908D-398DED6EBAB1}" type="datetime1">
              <a:rPr lang="en-US" smtClean="0"/>
              <a:t>2026-05-06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72FA-F273-424C-AEFD-E3BF6973D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524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B5E62-F774-4F65-B3A2-2213C25A5AEA}" type="datetime1">
              <a:rPr lang="en-US" smtClean="0"/>
              <a:t>2026-05-06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72FA-F273-424C-AEFD-E3BF6973D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789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D0878-CF1B-49ED-AD4E-5ED3D953F768}" type="datetime1">
              <a:rPr lang="en-US" smtClean="0"/>
              <a:t>2026-05-06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72FA-F273-424C-AEFD-E3BF6973D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720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32334-80A3-4CEF-85FC-5DDF56E1E7C0}" type="datetime1">
              <a:rPr lang="en-US" smtClean="0"/>
              <a:t>2026-05-06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72FA-F273-424C-AEFD-E3BF6973D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561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04258-DD8C-4FD4-A6A9-83DE392C6C3F}" type="datetime1">
              <a:rPr lang="en-US" smtClean="0"/>
              <a:t>2026-05-06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72FA-F273-424C-AEFD-E3BF6973D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519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9B819-3E52-43A1-8A40-2B7C4C434AEB}" type="datetime1">
              <a:rPr lang="en-US" smtClean="0"/>
              <a:t>2026-05-06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72FA-F273-424C-AEFD-E3BF6973D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954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38FA6-5F9F-4ECF-8918-25AD07791A8E}" type="datetime1">
              <a:rPr lang="en-US" smtClean="0"/>
              <a:t>2026-05-06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72FA-F273-424C-AEFD-E3BF6973D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6651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7648" y="392643"/>
            <a:ext cx="1844351" cy="71869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175985" y="-3456972"/>
            <a:ext cx="3833929" cy="121981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452396" y="6352792"/>
            <a:ext cx="2743200" cy="365125"/>
          </a:xfrm>
          <a:prstGeom prst="rect">
            <a:avLst/>
          </a:prstGeom>
        </p:spPr>
        <p:txBody>
          <a:bodyPr/>
          <a:lstStyle/>
          <a:p>
            <a:fld id="{E8BA1A0E-364C-4183-A995-0F7F3E7596BF}" type="datetime1">
              <a:rPr lang="en-US" smtClean="0"/>
              <a:t>2026-05-06</a:t>
            </a:fld>
            <a:endParaRPr lang="en-US"/>
          </a:p>
        </p:txBody>
      </p:sp>
      <p:sp>
        <p:nvSpPr>
          <p:cNvPr id="5" name="Footer Placeholder 4" hidden="1"/>
          <p:cNvSpPr>
            <a:spLocks noGrp="1"/>
          </p:cNvSpPr>
          <p:nvPr>
            <p:ph type="ftr" sz="quarter" idx="11"/>
          </p:nvPr>
        </p:nvSpPr>
        <p:spPr>
          <a:xfrm>
            <a:off x="8610599" y="6356350"/>
            <a:ext cx="2121243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Rectangle 6"/>
          <p:cNvSpPr/>
          <p:nvPr userDrawn="1"/>
        </p:nvSpPr>
        <p:spPr>
          <a:xfrm flipH="1">
            <a:off x="0" y="4725859"/>
            <a:ext cx="12192000" cy="2162432"/>
          </a:xfrm>
          <a:custGeom>
            <a:avLst/>
            <a:gdLst>
              <a:gd name="connsiteX0" fmla="*/ 0 w 12192000"/>
              <a:gd name="connsiteY0" fmla="*/ 0 h 2162432"/>
              <a:gd name="connsiteX1" fmla="*/ 12192000 w 12192000"/>
              <a:gd name="connsiteY1" fmla="*/ 0 h 2162432"/>
              <a:gd name="connsiteX2" fmla="*/ 12192000 w 12192000"/>
              <a:gd name="connsiteY2" fmla="*/ 2162432 h 2162432"/>
              <a:gd name="connsiteX3" fmla="*/ 0 w 12192000"/>
              <a:gd name="connsiteY3" fmla="*/ 2162432 h 2162432"/>
              <a:gd name="connsiteX4" fmla="*/ 0 w 12192000"/>
              <a:gd name="connsiteY4" fmla="*/ 0 h 2162432"/>
              <a:gd name="connsiteX0" fmla="*/ 0 w 12192000"/>
              <a:gd name="connsiteY0" fmla="*/ 1169773 h 2162432"/>
              <a:gd name="connsiteX1" fmla="*/ 12192000 w 12192000"/>
              <a:gd name="connsiteY1" fmla="*/ 0 h 2162432"/>
              <a:gd name="connsiteX2" fmla="*/ 12192000 w 12192000"/>
              <a:gd name="connsiteY2" fmla="*/ 2162432 h 2162432"/>
              <a:gd name="connsiteX3" fmla="*/ 0 w 12192000"/>
              <a:gd name="connsiteY3" fmla="*/ 2162432 h 2162432"/>
              <a:gd name="connsiteX4" fmla="*/ 0 w 12192000"/>
              <a:gd name="connsiteY4" fmla="*/ 1169773 h 2162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2162432">
                <a:moveTo>
                  <a:pt x="0" y="1169773"/>
                </a:moveTo>
                <a:lnTo>
                  <a:pt x="12192000" y="0"/>
                </a:lnTo>
                <a:lnTo>
                  <a:pt x="12192000" y="2162432"/>
                </a:lnTo>
                <a:lnTo>
                  <a:pt x="0" y="2162432"/>
                </a:lnTo>
                <a:lnTo>
                  <a:pt x="0" y="1169773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4695568"/>
            <a:ext cx="12192000" cy="2162432"/>
          </a:xfrm>
          <a:custGeom>
            <a:avLst/>
            <a:gdLst>
              <a:gd name="connsiteX0" fmla="*/ 0 w 12192000"/>
              <a:gd name="connsiteY0" fmla="*/ 0 h 2162432"/>
              <a:gd name="connsiteX1" fmla="*/ 12192000 w 12192000"/>
              <a:gd name="connsiteY1" fmla="*/ 0 h 2162432"/>
              <a:gd name="connsiteX2" fmla="*/ 12192000 w 12192000"/>
              <a:gd name="connsiteY2" fmla="*/ 2162432 h 2162432"/>
              <a:gd name="connsiteX3" fmla="*/ 0 w 12192000"/>
              <a:gd name="connsiteY3" fmla="*/ 2162432 h 2162432"/>
              <a:gd name="connsiteX4" fmla="*/ 0 w 12192000"/>
              <a:gd name="connsiteY4" fmla="*/ 0 h 2162432"/>
              <a:gd name="connsiteX0" fmla="*/ 0 w 12192000"/>
              <a:gd name="connsiteY0" fmla="*/ 1169773 h 2162432"/>
              <a:gd name="connsiteX1" fmla="*/ 12192000 w 12192000"/>
              <a:gd name="connsiteY1" fmla="*/ 0 h 2162432"/>
              <a:gd name="connsiteX2" fmla="*/ 12192000 w 12192000"/>
              <a:gd name="connsiteY2" fmla="*/ 2162432 h 2162432"/>
              <a:gd name="connsiteX3" fmla="*/ 0 w 12192000"/>
              <a:gd name="connsiteY3" fmla="*/ 2162432 h 2162432"/>
              <a:gd name="connsiteX4" fmla="*/ 0 w 12192000"/>
              <a:gd name="connsiteY4" fmla="*/ 1169773 h 2162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2162432">
                <a:moveTo>
                  <a:pt x="0" y="1169773"/>
                </a:moveTo>
                <a:lnTo>
                  <a:pt x="12192000" y="0"/>
                </a:lnTo>
                <a:lnTo>
                  <a:pt x="12192000" y="2162432"/>
                </a:lnTo>
                <a:lnTo>
                  <a:pt x="0" y="2162432"/>
                </a:lnTo>
                <a:lnTo>
                  <a:pt x="0" y="1169773"/>
                </a:lnTo>
                <a:close/>
              </a:path>
            </a:pathLst>
          </a:custGeom>
          <a:solidFill>
            <a:srgbClr val="DB6D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344" y="5970673"/>
            <a:ext cx="3997596" cy="710771"/>
          </a:xfrm>
          <a:prstGeom prst="rect">
            <a:avLst/>
          </a:prstGeom>
        </p:spPr>
      </p:pic>
      <p:sp>
        <p:nvSpPr>
          <p:cNvPr id="20" name="TextBox 19"/>
          <p:cNvSpPr txBox="1"/>
          <p:nvPr userDrawn="1"/>
        </p:nvSpPr>
        <p:spPr>
          <a:xfrm>
            <a:off x="10347648" y="6245614"/>
            <a:ext cx="1791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FlandersArtSans-Medium" panose="00000600000000000000" pitchFamily="2" charset="0"/>
              </a:rPr>
              <a:t>vscentrum</a:t>
            </a:r>
            <a:r>
              <a:rPr lang="en-US" dirty="0">
                <a:solidFill>
                  <a:schemeClr val="bg2"/>
                </a:solidFill>
              </a:rPr>
              <a:t>.be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1C33-475D-474A-A037-DDAF3DC7A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027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1C33-475D-474A-A037-DDAF3DC7A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3565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1C33-475D-474A-A037-DDAF3DC7A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5892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1C33-475D-474A-A037-DDAF3DC7A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050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2448-FEEC-49E8-9588-2DF1F90D57C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9587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2448-FEEC-49E8-9588-2DF1F90D57C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25146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6613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ngl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2448-FEEC-49E8-9588-2DF1F90D57C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028700" y="2514600"/>
            <a:ext cx="5067300" cy="3273552"/>
          </a:xfrm>
          <a:prstGeom prst="roundRect">
            <a:avLst>
              <a:gd name="adj" fmla="val 935"/>
            </a:avLst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92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2448-FEEC-49E8-9588-2DF1F90D5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6029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Work #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2448-FEEC-49E8-9588-2DF1F90D57C2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028700" y="2522575"/>
            <a:ext cx="1600200" cy="1600200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3038475" y="2522575"/>
            <a:ext cx="1600200" cy="1600200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5048250" y="2522575"/>
            <a:ext cx="1600200" cy="1600200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7058025" y="2522575"/>
            <a:ext cx="1600200" cy="1600200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9067800" y="2522575"/>
            <a:ext cx="1600200" cy="1600200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5672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Work #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2448-FEEC-49E8-9588-2DF1F90D57C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ounded Rectangle 3"/>
          <p:cNvSpPr/>
          <p:nvPr userDrawn="1"/>
        </p:nvSpPr>
        <p:spPr>
          <a:xfrm>
            <a:off x="2413589" y="2520359"/>
            <a:ext cx="3572541" cy="1481328"/>
          </a:xfrm>
          <a:prstGeom prst="roundRect">
            <a:avLst>
              <a:gd name="adj" fmla="val 374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 userDrawn="1"/>
        </p:nvSpPr>
        <p:spPr>
          <a:xfrm>
            <a:off x="2413589" y="4309872"/>
            <a:ext cx="3572541" cy="1481328"/>
          </a:xfrm>
          <a:prstGeom prst="roundRect">
            <a:avLst>
              <a:gd name="adj" fmla="val 374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 userDrawn="1"/>
        </p:nvSpPr>
        <p:spPr>
          <a:xfrm>
            <a:off x="7590759" y="4309872"/>
            <a:ext cx="3572541" cy="1481328"/>
          </a:xfrm>
          <a:prstGeom prst="roundRect">
            <a:avLst>
              <a:gd name="adj" fmla="val 374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 userDrawn="1"/>
        </p:nvSpPr>
        <p:spPr>
          <a:xfrm>
            <a:off x="7590759" y="2520359"/>
            <a:ext cx="3572541" cy="1481328"/>
          </a:xfrm>
          <a:prstGeom prst="roundRect">
            <a:avLst>
              <a:gd name="adj" fmla="val 3747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028700" y="2525233"/>
            <a:ext cx="1475709" cy="1475709"/>
          </a:xfrm>
          <a:prstGeom prst="roundRect">
            <a:avLst>
              <a:gd name="adj" fmla="val 3179"/>
            </a:avLst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6210744" y="2519614"/>
            <a:ext cx="1475709" cy="1475709"/>
          </a:xfrm>
          <a:prstGeom prst="roundRect">
            <a:avLst>
              <a:gd name="adj" fmla="val 3179"/>
            </a:avLst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1028700" y="4314746"/>
            <a:ext cx="1475709" cy="1475709"/>
          </a:xfrm>
          <a:prstGeom prst="roundRect">
            <a:avLst>
              <a:gd name="adj" fmla="val 3179"/>
            </a:avLst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  <p:sp>
        <p:nvSpPr>
          <p:cNvPr id="17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6210744" y="4314746"/>
            <a:ext cx="1475709" cy="1475709"/>
          </a:xfrm>
          <a:prstGeom prst="roundRect">
            <a:avLst>
              <a:gd name="adj" fmla="val 3179"/>
            </a:avLst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9585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folio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2448-FEEC-49E8-9588-2DF1F90D57C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024318" y="2513013"/>
            <a:ext cx="2295144" cy="2295144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3638931" y="2513013"/>
            <a:ext cx="2295144" cy="2295144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6253162" y="2510219"/>
            <a:ext cx="2295144" cy="2295144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8867393" y="2510219"/>
            <a:ext cx="2295144" cy="2295144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1742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folio #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2448-FEEC-49E8-9588-2DF1F90D57C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20"/>
          </p:nvPr>
        </p:nvSpPr>
        <p:spPr>
          <a:xfrm>
            <a:off x="6096000" y="685800"/>
            <a:ext cx="2487613" cy="54864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8678863" y="685800"/>
            <a:ext cx="2487613" cy="54864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0044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folio #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2448-FEEC-49E8-9588-2DF1F90D57C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1028700" y="2514599"/>
            <a:ext cx="5029200" cy="3275013"/>
          </a:xfrm>
          <a:prstGeom prst="roundRect">
            <a:avLst>
              <a:gd name="adj" fmla="val 1492"/>
            </a:avLst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20"/>
          </p:nvPr>
        </p:nvSpPr>
        <p:spPr>
          <a:xfrm>
            <a:off x="6134100" y="2514598"/>
            <a:ext cx="5029200" cy="3275013"/>
          </a:xfrm>
          <a:prstGeom prst="roundRect">
            <a:avLst>
              <a:gd name="adj" fmla="val 1492"/>
            </a:avLst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8224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folio #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2448-FEEC-49E8-9588-2DF1F90D57C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042878" y="3141919"/>
            <a:ext cx="1828800" cy="1828800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2804638" y="3141919"/>
            <a:ext cx="1828800" cy="1828800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7569193" y="3141919"/>
            <a:ext cx="1828800" cy="1828800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9330953" y="3141919"/>
            <a:ext cx="1828800" cy="1828800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2076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ock Up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2448-FEEC-49E8-9588-2DF1F90D57C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152524" y="2681288"/>
            <a:ext cx="4943475" cy="3109912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89364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ock Up #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2448-FEEC-49E8-9588-2DF1F90D57C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6816725" y="2211388"/>
            <a:ext cx="4208463" cy="2541587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24389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ock Up #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2448-FEEC-49E8-9588-2DF1F90D57C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6861175" y="2692400"/>
            <a:ext cx="3910013" cy="295275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77446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ac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2448-FEEC-49E8-9588-2DF1F90D57C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22"/>
          </p:nvPr>
        </p:nvSpPr>
        <p:spPr>
          <a:xfrm>
            <a:off x="1028700" y="685800"/>
            <a:ext cx="5067300" cy="54864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51604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ener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7940753"/>
      </p:ext>
    </p:extLst>
  </p:cSld>
  <p:clrMapOvr>
    <a:masterClrMapping/>
  </p:clrMapOvr>
  <p:transition advClick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333226-38AF-4D55-9F51-5A04A4858D36}" type="datetime1">
              <a:rPr lang="en-US" smtClean="0"/>
              <a:t>2026-05-06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5772FA-F273-424C-AEFD-E3BF6973D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055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3720" y="6130213"/>
            <a:ext cx="12188280" cy="727788"/>
          </a:xfrm>
          <a:custGeom>
            <a:avLst/>
            <a:gdLst>
              <a:gd name="connsiteX0" fmla="*/ 0 w 12192000"/>
              <a:gd name="connsiteY0" fmla="*/ 0 h 1268963"/>
              <a:gd name="connsiteX1" fmla="*/ 12192000 w 12192000"/>
              <a:gd name="connsiteY1" fmla="*/ 0 h 1268963"/>
              <a:gd name="connsiteX2" fmla="*/ 12192000 w 12192000"/>
              <a:gd name="connsiteY2" fmla="*/ 1268963 h 1268963"/>
              <a:gd name="connsiteX3" fmla="*/ 0 w 12192000"/>
              <a:gd name="connsiteY3" fmla="*/ 1268963 h 1268963"/>
              <a:gd name="connsiteX4" fmla="*/ 0 w 12192000"/>
              <a:gd name="connsiteY4" fmla="*/ 0 h 1268963"/>
              <a:gd name="connsiteX0" fmla="*/ 0 w 12210662"/>
              <a:gd name="connsiteY0" fmla="*/ 877077 h 1268963"/>
              <a:gd name="connsiteX1" fmla="*/ 12210662 w 12210662"/>
              <a:gd name="connsiteY1" fmla="*/ 0 h 1268963"/>
              <a:gd name="connsiteX2" fmla="*/ 12210662 w 12210662"/>
              <a:gd name="connsiteY2" fmla="*/ 1268963 h 1268963"/>
              <a:gd name="connsiteX3" fmla="*/ 18662 w 12210662"/>
              <a:gd name="connsiteY3" fmla="*/ 1268963 h 1268963"/>
              <a:gd name="connsiteX4" fmla="*/ 0 w 12210662"/>
              <a:gd name="connsiteY4" fmla="*/ 877077 h 1268963"/>
              <a:gd name="connsiteX0" fmla="*/ 0 w 12210662"/>
              <a:gd name="connsiteY0" fmla="*/ 335902 h 727788"/>
              <a:gd name="connsiteX1" fmla="*/ 12210662 w 12210662"/>
              <a:gd name="connsiteY1" fmla="*/ 0 h 727788"/>
              <a:gd name="connsiteX2" fmla="*/ 12210662 w 12210662"/>
              <a:gd name="connsiteY2" fmla="*/ 727788 h 727788"/>
              <a:gd name="connsiteX3" fmla="*/ 18662 w 12210662"/>
              <a:gd name="connsiteY3" fmla="*/ 727788 h 727788"/>
              <a:gd name="connsiteX4" fmla="*/ 0 w 12210662"/>
              <a:gd name="connsiteY4" fmla="*/ 335902 h 727788"/>
              <a:gd name="connsiteX0" fmla="*/ 9330 w 12192000"/>
              <a:gd name="connsiteY0" fmla="*/ 335902 h 727788"/>
              <a:gd name="connsiteX1" fmla="*/ 12192000 w 12192000"/>
              <a:gd name="connsiteY1" fmla="*/ 0 h 727788"/>
              <a:gd name="connsiteX2" fmla="*/ 12192000 w 12192000"/>
              <a:gd name="connsiteY2" fmla="*/ 727788 h 727788"/>
              <a:gd name="connsiteX3" fmla="*/ 0 w 12192000"/>
              <a:gd name="connsiteY3" fmla="*/ 727788 h 727788"/>
              <a:gd name="connsiteX4" fmla="*/ 9330 w 12192000"/>
              <a:gd name="connsiteY4" fmla="*/ 335902 h 727788"/>
              <a:gd name="connsiteX0" fmla="*/ 3720 w 12192000"/>
              <a:gd name="connsiteY0" fmla="*/ 335902 h 727788"/>
              <a:gd name="connsiteX1" fmla="*/ 12192000 w 12192000"/>
              <a:gd name="connsiteY1" fmla="*/ 0 h 727788"/>
              <a:gd name="connsiteX2" fmla="*/ 12192000 w 12192000"/>
              <a:gd name="connsiteY2" fmla="*/ 727788 h 727788"/>
              <a:gd name="connsiteX3" fmla="*/ 0 w 12192000"/>
              <a:gd name="connsiteY3" fmla="*/ 727788 h 727788"/>
              <a:gd name="connsiteX4" fmla="*/ 3720 w 12192000"/>
              <a:gd name="connsiteY4" fmla="*/ 335902 h 727788"/>
              <a:gd name="connsiteX0" fmla="*/ 0 w 12188280"/>
              <a:gd name="connsiteY0" fmla="*/ 335902 h 727788"/>
              <a:gd name="connsiteX1" fmla="*/ 12188280 w 12188280"/>
              <a:gd name="connsiteY1" fmla="*/ 0 h 727788"/>
              <a:gd name="connsiteX2" fmla="*/ 12188280 w 12188280"/>
              <a:gd name="connsiteY2" fmla="*/ 727788 h 727788"/>
              <a:gd name="connsiteX3" fmla="*/ 1890 w 12188280"/>
              <a:gd name="connsiteY3" fmla="*/ 727788 h 727788"/>
              <a:gd name="connsiteX4" fmla="*/ 0 w 12188280"/>
              <a:gd name="connsiteY4" fmla="*/ 335902 h 727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88280" h="727788">
                <a:moveTo>
                  <a:pt x="0" y="335902"/>
                </a:moveTo>
                <a:lnTo>
                  <a:pt x="12188280" y="0"/>
                </a:lnTo>
                <a:lnTo>
                  <a:pt x="12188280" y="727788"/>
                </a:lnTo>
                <a:lnTo>
                  <a:pt x="1890" y="727788"/>
                </a:lnTo>
                <a:lnTo>
                  <a:pt x="0" y="335902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844850" y="6384344"/>
            <a:ext cx="502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CF5A1C33-475D-474A-A037-DDAF3DC7AF0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7239" y="6229445"/>
            <a:ext cx="1426467" cy="576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859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hreadingbuildingblocks.org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jbex/training-material/blob/master/CPlusPlus/Tbb/tbb.pptx" TargetMode="External"/><Relationship Id="rId2" Type="http://schemas.openxmlformats.org/officeDocument/2006/relationships/hyperlink" Target="https://www.threadingbuildingblocks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gjbex/training-material/tree/master/CPlusPlus/Tbb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jpe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BE" dirty="0"/>
              <a:t>Shared memory programming in C++ with Threading Building Blocks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509963"/>
            <a:ext cx="9144000" cy="1655762"/>
          </a:xfrm>
        </p:spPr>
        <p:txBody>
          <a:bodyPr>
            <a:normAutofit/>
          </a:bodyPr>
          <a:lstStyle/>
          <a:p>
            <a:pPr algn="l"/>
            <a:r>
              <a:rPr lang="en-BE" sz="2800" dirty="0"/>
              <a:t>Geert Jan Bex</a:t>
            </a:r>
            <a:br>
              <a:rPr lang="en-US" sz="2800" dirty="0"/>
            </a:br>
            <a:r>
              <a:rPr lang="en-US" sz="2800" dirty="0"/>
              <a:t>email: geertjan.bex@uhasselt.be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1C33-475D-474A-A037-DDAF3DC7AF0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149162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&amp; motivation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72FA-F273-424C-AEFD-E3BF6973D6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847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Why </a:t>
            </a:r>
            <a:r>
              <a:rPr lang="en-US" dirty="0"/>
              <a:t>s</a:t>
            </a:r>
            <a:r>
              <a:rPr lang="en-BE" dirty="0"/>
              <a:t>hared memory programming?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2149" y="1775291"/>
            <a:ext cx="10515600" cy="4351338"/>
          </a:xfrm>
        </p:spPr>
        <p:txBody>
          <a:bodyPr/>
          <a:lstStyle/>
          <a:p>
            <a:r>
              <a:rPr lang="en-BE" dirty="0"/>
              <a:t>All CPUs have multiple cores</a:t>
            </a:r>
          </a:p>
          <a:p>
            <a:r>
              <a:rPr lang="en-BE" dirty="0"/>
              <a:t>Cores have vector registers</a:t>
            </a:r>
          </a:p>
          <a:p>
            <a:r>
              <a:rPr lang="en-BE" dirty="0"/>
              <a:t>Accelerators</a:t>
            </a:r>
          </a:p>
          <a:p>
            <a:pPr lvl="1"/>
            <a:r>
              <a:rPr lang="en-BE" dirty="0"/>
              <a:t>GPGPUs</a:t>
            </a:r>
          </a:p>
          <a:p>
            <a:pPr lvl="1"/>
            <a:r>
              <a:rPr lang="en-BE" dirty="0"/>
              <a:t>FPGAs</a:t>
            </a:r>
          </a:p>
          <a:p>
            <a:pPr lvl="1"/>
            <a:r>
              <a:rPr lang="en-BE" dirty="0"/>
              <a:t>...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5679347" y="1775290"/>
            <a:ext cx="4760106" cy="2662485"/>
            <a:chOff x="5679347" y="1775290"/>
            <a:chExt cx="4760106" cy="2662485"/>
          </a:xfrm>
        </p:grpSpPr>
        <p:sp>
          <p:nvSpPr>
            <p:cNvPr id="4" name="TextBox 3"/>
            <p:cNvSpPr txBox="1"/>
            <p:nvPr/>
          </p:nvSpPr>
          <p:spPr>
            <a:xfrm>
              <a:off x="6230224" y="2835479"/>
              <a:ext cx="4209229" cy="52322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BE" sz="2800" dirty="0"/>
                <a:t>Various levels of parallelism</a:t>
              </a:r>
              <a:endParaRPr lang="en-US" sz="2800" dirty="0"/>
            </a:p>
          </p:txBody>
        </p:sp>
        <p:sp>
          <p:nvSpPr>
            <p:cNvPr id="5" name="Right Brace 4"/>
            <p:cNvSpPr/>
            <p:nvPr/>
          </p:nvSpPr>
          <p:spPr>
            <a:xfrm>
              <a:off x="5679347" y="1775290"/>
              <a:ext cx="218114" cy="2662485"/>
            </a:xfrm>
            <a:prstGeom prst="rightBrace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72FA-F273-424C-AEFD-E3BF6973D6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429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Options for C++?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BE" dirty="0"/>
              <a:t>pthreads</a:t>
            </a:r>
          </a:p>
          <a:p>
            <a:pPr lvl="1"/>
            <a:r>
              <a:rPr lang="en-BE" dirty="0"/>
              <a:t>disadvantages: programming model not really suited for scientic programming</a:t>
            </a:r>
          </a:p>
          <a:p>
            <a:r>
              <a:rPr lang="en-BE" dirty="0"/>
              <a:t>C++ threads</a:t>
            </a:r>
          </a:p>
          <a:p>
            <a:pPr lvl="1"/>
            <a:r>
              <a:rPr lang="en-BE" dirty="0"/>
              <a:t>advantages: part of C++ standard</a:t>
            </a:r>
          </a:p>
          <a:p>
            <a:pPr lvl="1"/>
            <a:r>
              <a:rPr lang="en-BE" dirty="0"/>
              <a:t>disadvantages: programming model not really suited for scientic programming</a:t>
            </a:r>
          </a:p>
          <a:p>
            <a:r>
              <a:rPr lang="en-BE" dirty="0"/>
              <a:t>OpenMP</a:t>
            </a:r>
          </a:p>
          <a:p>
            <a:pPr lvl="1"/>
            <a:r>
              <a:rPr lang="en-BE" dirty="0"/>
              <a:t>advantages: de facto standard in scientific computing; standard supported by "all" compilers; standard for C and Fortran</a:t>
            </a:r>
          </a:p>
          <a:p>
            <a:pPr lvl="1"/>
            <a:r>
              <a:rPr lang="en-BE" dirty="0"/>
              <a:t>disadvantages: multilevel parallelization is tricky</a:t>
            </a:r>
          </a:p>
          <a:p>
            <a:r>
              <a:rPr lang="en-BE" dirty="0"/>
              <a:t>Threading Building Blocks (TBB)</a:t>
            </a:r>
          </a:p>
          <a:p>
            <a:pPr lvl="1"/>
            <a:r>
              <a:rPr lang="en-BE" dirty="0"/>
              <a:t>advantages: multilevel parallelism is easier; integrates well with modern C++</a:t>
            </a:r>
          </a:p>
          <a:p>
            <a:pPr lvl="1"/>
            <a:r>
              <a:rPr lang="en-BE" dirty="0"/>
              <a:t>disadvantages: no standard, C++ only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72FA-F273-424C-AEFD-E3BF6973D6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895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Whence TBB?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History</a:t>
            </a:r>
          </a:p>
          <a:p>
            <a:pPr lvl="1"/>
            <a:r>
              <a:rPr lang="en-BE" dirty="0"/>
              <a:t>199</a:t>
            </a:r>
            <a:r>
              <a:rPr lang="en-US" dirty="0"/>
              <a:t>5</a:t>
            </a:r>
            <a:r>
              <a:rPr lang="en-BE" dirty="0"/>
              <a:t>-2006: MIT Cilk</a:t>
            </a:r>
          </a:p>
          <a:p>
            <a:pPr lvl="1"/>
            <a:r>
              <a:rPr lang="en-BE" dirty="0"/>
              <a:t>2006-2009: Cilk++</a:t>
            </a:r>
          </a:p>
          <a:p>
            <a:pPr lvl="1"/>
            <a:r>
              <a:rPr lang="en-BE" dirty="0"/>
              <a:t>2009-...: Intel Cilk Plus</a:t>
            </a:r>
          </a:p>
          <a:p>
            <a:pPr lvl="1"/>
            <a:r>
              <a:rPr lang="en-BE" dirty="0"/>
              <a:t>2006-...: Intel Threading Building Blocks</a:t>
            </a:r>
          </a:p>
          <a:p>
            <a:pPr lvl="2"/>
            <a:r>
              <a:rPr lang="en-BE" dirty="0"/>
              <a:t>optimized for Intel hardware</a:t>
            </a:r>
          </a:p>
          <a:p>
            <a:pPr lvl="1"/>
            <a:r>
              <a:rPr lang="en-BE" dirty="0"/>
              <a:t>2016-...: Threading building blocks open source</a:t>
            </a:r>
          </a:p>
          <a:p>
            <a:pPr lvl="2"/>
            <a:r>
              <a:rPr lang="en-US" dirty="0">
                <a:hlinkClick r:id="rId2"/>
              </a:rPr>
              <a:t>https://www.threadingbuildingblocks.org/</a:t>
            </a: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72FA-F273-424C-AEFD-E3BF6973D6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823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TBB?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Algorithms</a:t>
            </a:r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parallel_for</a:t>
            </a:r>
            <a:r>
              <a:rPr lang="en-US" dirty="0"/>
              <a:t>, </a:t>
            </a:r>
            <a:r>
              <a:rPr lang="en-US" dirty="0" err="1">
                <a:latin typeface="Consolas" panose="020B0609020204030204" pitchFamily="49" charset="0"/>
              </a:rPr>
              <a:t>parallel_reduce</a:t>
            </a:r>
            <a:r>
              <a:rPr lang="en-US" dirty="0"/>
              <a:t>, </a:t>
            </a:r>
            <a:r>
              <a:rPr lang="en-US" dirty="0" err="1">
                <a:latin typeface="Consolas" panose="020B0609020204030204" pitchFamily="49" charset="0"/>
              </a:rPr>
              <a:t>parallel_scan</a:t>
            </a:r>
            <a:r>
              <a:rPr lang="en-US" dirty="0"/>
              <a:t>, </a:t>
            </a:r>
            <a:r>
              <a:rPr lang="en-US" dirty="0" err="1">
                <a:latin typeface="Consolas" panose="020B0609020204030204" pitchFamily="49" charset="0"/>
              </a:rPr>
              <a:t>parallel_do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pipeline</a:t>
            </a:r>
          </a:p>
          <a:p>
            <a:r>
              <a:rPr lang="en-US" dirty="0"/>
              <a:t>Tasks &amp; flow graphs</a:t>
            </a:r>
          </a:p>
          <a:p>
            <a:r>
              <a:rPr lang="en-US" dirty="0"/>
              <a:t>Concurrent containers</a:t>
            </a:r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concurrent_queue</a:t>
            </a:r>
            <a:r>
              <a:rPr lang="en-US" dirty="0"/>
              <a:t>, </a:t>
            </a:r>
            <a:r>
              <a:rPr lang="en-US" dirty="0" err="1">
                <a:latin typeface="Consolas" panose="020B0609020204030204" pitchFamily="49" charset="0"/>
              </a:rPr>
              <a:t>concurrent_vector</a:t>
            </a:r>
            <a:r>
              <a:rPr lang="en-US" dirty="0"/>
              <a:t>, </a:t>
            </a:r>
            <a:r>
              <a:rPr lang="en-US" dirty="0" err="1">
                <a:latin typeface="Consolas" panose="020B0609020204030204" pitchFamily="49" charset="0"/>
              </a:rPr>
              <a:t>concurrent_hash_map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/>
              <a:t>Mutual exclusion</a:t>
            </a:r>
          </a:p>
          <a:p>
            <a:r>
              <a:rPr lang="en-US" dirty="0"/>
              <a:t>Atomic operations</a:t>
            </a:r>
          </a:p>
          <a:p>
            <a:r>
              <a:rPr lang="en-US" dirty="0"/>
              <a:t>Memory allocation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72FA-F273-424C-AEFD-E3BF6973D60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361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to find info?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TBB website:</a:t>
            </a:r>
            <a:br>
              <a:rPr lang="en-US" dirty="0"/>
            </a:br>
            <a:r>
              <a:rPr lang="en-US" sz="2600" dirty="0">
                <a:hlinkClick r:id="rId2"/>
              </a:rPr>
              <a:t>https://www.threadingbuildingblocks.org/</a:t>
            </a:r>
            <a:endParaRPr lang="en-US" dirty="0"/>
          </a:p>
          <a:p>
            <a:r>
              <a:rPr lang="en-US" dirty="0"/>
              <a:t>Documentation: see website</a:t>
            </a:r>
          </a:p>
          <a:p>
            <a:r>
              <a:rPr lang="en-US" dirty="0"/>
              <a:t>Books:</a:t>
            </a:r>
          </a:p>
          <a:p>
            <a:pPr lvl="1"/>
            <a:r>
              <a:rPr lang="en-US" i="1" dirty="0"/>
              <a:t>Intel Threading Building Blocks: outfitting C++ for multi-core parallelism</a:t>
            </a:r>
            <a:br>
              <a:rPr lang="en-US" dirty="0"/>
            </a:br>
            <a:r>
              <a:rPr lang="en-US" dirty="0"/>
              <a:t>James </a:t>
            </a:r>
            <a:r>
              <a:rPr lang="en-US" dirty="0" err="1"/>
              <a:t>Reinders</a:t>
            </a:r>
            <a:r>
              <a:rPr lang="en-US" dirty="0"/>
              <a:t>, 2010, O'Reilly</a:t>
            </a:r>
          </a:p>
          <a:p>
            <a:pPr lvl="1"/>
            <a:r>
              <a:rPr lang="en-US" i="1" dirty="0"/>
              <a:t>Pro TBB: C++ parallel programming with Threading Building Blocks</a:t>
            </a:r>
            <a:br>
              <a:rPr lang="en-US" dirty="0"/>
            </a:br>
            <a:r>
              <a:rPr lang="en-US" dirty="0"/>
              <a:t>Michael Voss, Rafael </a:t>
            </a:r>
            <a:r>
              <a:rPr lang="en-US" dirty="0" err="1"/>
              <a:t>Asenjo</a:t>
            </a:r>
            <a:r>
              <a:rPr lang="en-US" dirty="0"/>
              <a:t>, James </a:t>
            </a:r>
            <a:r>
              <a:rPr lang="en-US" dirty="0" err="1"/>
              <a:t>Reinders</a:t>
            </a:r>
            <a:r>
              <a:rPr lang="en-US" dirty="0"/>
              <a:t>, 2019, </a:t>
            </a:r>
            <a:r>
              <a:rPr lang="en-US" dirty="0" err="1"/>
              <a:t>Apress</a:t>
            </a:r>
            <a:r>
              <a:rPr lang="en-US" dirty="0"/>
              <a:t> Open</a:t>
            </a:r>
          </a:p>
          <a:p>
            <a:r>
              <a:rPr lang="en-US" dirty="0"/>
              <a:t>Slides</a:t>
            </a:r>
            <a:br>
              <a:rPr lang="en-US" dirty="0"/>
            </a:br>
            <a:r>
              <a:rPr lang="en-US" sz="2600" dirty="0">
                <a:hlinkClick r:id="rId3"/>
              </a:rPr>
              <a:t>https://github.com/gjbex/training-material/blob/master/CPlusPlus/Tbb/tbb.pptx</a:t>
            </a:r>
            <a:endParaRPr lang="en-US" dirty="0"/>
          </a:p>
          <a:p>
            <a:r>
              <a:rPr lang="en-US" dirty="0"/>
              <a:t>Sample code</a:t>
            </a:r>
            <a:br>
              <a:rPr lang="en-US" dirty="0"/>
            </a:br>
            <a:r>
              <a:rPr lang="en-US" sz="2600" dirty="0">
                <a:hlinkClick r:id="rId4"/>
              </a:rPr>
              <a:t>https://github.com/gjbex/training-material/tree/master/CPlusPlus/Tbb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72FA-F273-424C-AEFD-E3BF6973D60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842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refresher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72FA-F273-424C-AEFD-E3BF6973D60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047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prerequisites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Iterators</a:t>
            </a:r>
          </a:p>
          <a:p>
            <a:r>
              <a:rPr lang="en-US" dirty="0"/>
              <a:t>Classes/</a:t>
            </a:r>
            <a:r>
              <a:rPr lang="en-US" dirty="0" err="1"/>
              <a:t>structs</a:t>
            </a:r>
            <a:r>
              <a:rPr lang="en-US" dirty="0"/>
              <a:t> defining </a:t>
            </a:r>
            <a:r>
              <a:rPr lang="en-US" dirty="0">
                <a:latin typeface="Consolas" panose="020B0609020204030204" pitchFamily="49" charset="0"/>
              </a:rPr>
              <a:t>operator()</a:t>
            </a:r>
          </a:p>
          <a:p>
            <a:r>
              <a:rPr lang="en-US" dirty="0"/>
              <a:t>Lambda functions</a:t>
            </a:r>
          </a:p>
          <a:p>
            <a:r>
              <a:rPr lang="en-US" dirty="0"/>
              <a:t>Placement new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72FA-F273-424C-AEFD-E3BF6973D60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97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Iterators over C++ STL</a:t>
            </a:r>
            <a:br>
              <a:rPr lang="en-US" dirty="0"/>
            </a:br>
            <a:r>
              <a:rPr lang="en-US" dirty="0"/>
              <a:t>containers, e.g.,</a:t>
            </a:r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cbegin</a:t>
            </a:r>
            <a:r>
              <a:rPr lang="en-US" dirty="0"/>
              <a:t>: iterator to first element</a:t>
            </a:r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cend</a:t>
            </a:r>
            <a:r>
              <a:rPr lang="en-US" dirty="0"/>
              <a:t>: iterator to last element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it</a:t>
            </a:r>
            <a:r>
              <a:rPr lang="en-US" dirty="0"/>
              <a:t>: iterator pointing to current</a:t>
            </a:r>
            <a:br>
              <a:rPr lang="en-US" dirty="0"/>
            </a:br>
            <a:r>
              <a:rPr lang="en-US" dirty="0"/>
              <a:t>value (</a:t>
            </a:r>
            <a:r>
              <a:rPr lang="en-US" dirty="0" err="1">
                <a:latin typeface="Consolas" panose="020B0609020204030204" pitchFamily="49" charset="0"/>
              </a:rPr>
              <a:t>const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non-</a:t>
            </a:r>
            <a:r>
              <a:rPr lang="en-US" dirty="0" err="1"/>
              <a:t>const</a:t>
            </a:r>
            <a:r>
              <a:rPr lang="en-US" dirty="0"/>
              <a:t> iterators: </a:t>
            </a:r>
            <a:r>
              <a:rPr lang="en-US" dirty="0">
                <a:latin typeface="Consolas" panose="020B0609020204030204" pitchFamily="49" charset="0"/>
              </a:rPr>
              <a:t>begin</a:t>
            </a:r>
            <a:r>
              <a:rPr lang="en-US" dirty="0"/>
              <a:t>/</a:t>
            </a:r>
            <a:r>
              <a:rPr lang="en-US" dirty="0">
                <a:latin typeface="Consolas" panose="020B0609020204030204" pitchFamily="49" charset="0"/>
              </a:rPr>
              <a:t>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51915" y="1690688"/>
            <a:ext cx="6019597" cy="45243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#include &lt;algorithm&gt;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#include &lt;</a:t>
            </a:r>
            <a:r>
              <a:rPr lang="en-US" sz="1600" dirty="0" err="1">
                <a:latin typeface="Consolas" panose="020B0609020204030204" pitchFamily="49" charset="0"/>
              </a:rPr>
              <a:t>iostream</a:t>
            </a:r>
            <a:r>
              <a:rPr lang="en-US" sz="16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#include &lt;vector&gt;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 err="1">
                <a:latin typeface="Consolas" panose="020B0609020204030204" pitchFamily="49" charset="0"/>
              </a:rPr>
              <a:t>int</a:t>
            </a:r>
            <a:r>
              <a:rPr lang="en-US" sz="1600" dirty="0">
                <a:latin typeface="Consolas" panose="020B0609020204030204" pitchFamily="49" charset="0"/>
              </a:rPr>
              <a:t> main() 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</a:rPr>
              <a:t>std</a:t>
            </a:r>
            <a:r>
              <a:rPr lang="en-US" sz="1600" dirty="0">
                <a:latin typeface="Consolas" panose="020B0609020204030204" pitchFamily="49" charset="0"/>
              </a:rPr>
              <a:t>::vector&lt;</a:t>
            </a:r>
            <a:r>
              <a:rPr lang="en-US" sz="1600" dirty="0" err="1">
                <a:latin typeface="Consolas" panose="020B0609020204030204" pitchFamily="49" charset="0"/>
              </a:rPr>
              <a:t>int</a:t>
            </a:r>
            <a:r>
              <a:rPr lang="en-US" sz="1600" dirty="0">
                <a:latin typeface="Consolas" panose="020B0609020204030204" pitchFamily="49" charset="0"/>
              </a:rPr>
              <a:t>&gt; v;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for (</a:t>
            </a:r>
            <a:r>
              <a:rPr lang="en-US" sz="1600" dirty="0" err="1">
                <a:latin typeface="Consolas" panose="020B0609020204030204" pitchFamily="49" charset="0"/>
              </a:rPr>
              <a:t>int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</a:rPr>
              <a:t> = 0; </a:t>
            </a:r>
            <a:r>
              <a:rPr lang="en-US" sz="1600" dirty="0" err="1">
                <a:latin typeface="Consolas" panose="020B06090202040302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</a:rPr>
              <a:t> &lt; 10; ++</a:t>
            </a:r>
            <a:r>
              <a:rPr lang="en-US" sz="1600" dirty="0" err="1">
                <a:latin typeface="Consolas" panose="020B06090202040302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</a:rPr>
              <a:t>)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latin typeface="Consolas" panose="020B0609020204030204" pitchFamily="49" charset="0"/>
              </a:rPr>
              <a:t>v.push_back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</a:rPr>
              <a:t>);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   for (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auto it =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v.cbegin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(); it !=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v.cend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(); ++it</a:t>
            </a:r>
            <a:r>
              <a:rPr lang="en-US" sz="1600" dirty="0">
                <a:latin typeface="Consolas" panose="020B0609020204030204" pitchFamily="49" charset="0"/>
              </a:rPr>
              <a:t>)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latin typeface="Consolas" panose="020B0609020204030204" pitchFamily="49" charset="0"/>
              </a:rPr>
              <a:t>std</a:t>
            </a:r>
            <a:r>
              <a:rPr lang="en-US" sz="1600" dirty="0">
                <a:latin typeface="Consolas" panose="020B0609020204030204" pitchFamily="49" charset="0"/>
              </a:rPr>
              <a:t>::</a:t>
            </a:r>
            <a:r>
              <a:rPr lang="en-US" sz="1600" dirty="0" err="1">
                <a:latin typeface="Consolas" panose="020B0609020204030204" pitchFamily="49" charset="0"/>
              </a:rPr>
              <a:t>cout</a:t>
            </a:r>
            <a:r>
              <a:rPr lang="en-US" sz="1600" dirty="0">
                <a:latin typeface="Consolas" panose="020B0609020204030204" pitchFamily="49" charset="0"/>
              </a:rPr>
              <a:t> &lt;&lt; 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*it</a:t>
            </a:r>
            <a:r>
              <a:rPr lang="en-US" sz="1600" dirty="0">
                <a:latin typeface="Consolas" panose="020B0609020204030204" pitchFamily="49" charset="0"/>
              </a:rPr>
              <a:t> &lt;&lt; " ";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</a:rPr>
              <a:t>std</a:t>
            </a:r>
            <a:r>
              <a:rPr lang="en-US" sz="1600" dirty="0">
                <a:latin typeface="Consolas" panose="020B0609020204030204" pitchFamily="49" charset="0"/>
              </a:rPr>
              <a:t>::</a:t>
            </a:r>
            <a:r>
              <a:rPr lang="en-US" sz="1600" dirty="0" err="1">
                <a:latin typeface="Consolas" panose="020B0609020204030204" pitchFamily="49" charset="0"/>
              </a:rPr>
              <a:t>cout</a:t>
            </a:r>
            <a:r>
              <a:rPr lang="en-US" sz="1600" dirty="0">
                <a:latin typeface="Consolas" panose="020B0609020204030204" pitchFamily="49" charset="0"/>
              </a:rPr>
              <a:t> &lt;&lt; </a:t>
            </a:r>
            <a:r>
              <a:rPr lang="en-US" sz="1600" dirty="0" err="1">
                <a:latin typeface="Consolas" panose="020B0609020204030204" pitchFamily="49" charset="0"/>
              </a:rPr>
              <a:t>std</a:t>
            </a:r>
            <a:r>
              <a:rPr lang="en-US" sz="1600" dirty="0">
                <a:latin typeface="Consolas" panose="020B0609020204030204" pitchFamily="49" charset="0"/>
              </a:rPr>
              <a:t>::</a:t>
            </a:r>
            <a:r>
              <a:rPr lang="en-US" sz="1600" dirty="0" err="1">
                <a:latin typeface="Consolas" panose="020B0609020204030204" pitchFamily="49" charset="0"/>
              </a:rPr>
              <a:t>endl</a:t>
            </a:r>
            <a:r>
              <a:rPr lang="en-US" sz="1600" dirty="0">
                <a:latin typeface="Consolas" panose="020B0609020204030204" pitchFamily="49" charset="0"/>
              </a:rPr>
              <a:t>;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   for (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auto it =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v.begin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(); it !=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v.end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(); ++it</a:t>
            </a:r>
            <a:r>
              <a:rPr lang="en-US" sz="1600" dirty="0">
                <a:latin typeface="Consolas" panose="020B0609020204030204" pitchFamily="49" charset="0"/>
              </a:rPr>
              <a:t>)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*it = (*it)*(*it);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…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return 0;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72FA-F273-424C-AEFD-E3BF6973D60A}" type="slidenum">
              <a:rPr lang="en-US" smtClean="0"/>
              <a:t>10</a:t>
            </a:fld>
            <a:endParaRPr lang="en-US"/>
          </a:p>
        </p:txBody>
      </p:sp>
      <p:grpSp>
        <p:nvGrpSpPr>
          <p:cNvPr id="40" name="Group 39"/>
          <p:cNvGrpSpPr/>
          <p:nvPr/>
        </p:nvGrpSpPr>
        <p:grpSpPr>
          <a:xfrm>
            <a:off x="1479665" y="4771503"/>
            <a:ext cx="2780607" cy="293718"/>
            <a:chOff x="1479665" y="4771503"/>
            <a:chExt cx="2780607" cy="293718"/>
          </a:xfrm>
        </p:grpSpPr>
        <p:sp>
          <p:nvSpPr>
            <p:cNvPr id="6" name="Rectangle 5"/>
            <p:cNvSpPr/>
            <p:nvPr/>
          </p:nvSpPr>
          <p:spPr>
            <a:xfrm>
              <a:off x="1479665" y="4779818"/>
              <a:ext cx="307571" cy="2826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1784465" y="4779817"/>
              <a:ext cx="307571" cy="2826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9265" y="4779817"/>
              <a:ext cx="307571" cy="2826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2394065" y="4779817"/>
              <a:ext cx="307571" cy="2826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345872" y="4782588"/>
              <a:ext cx="307571" cy="2826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650672" y="4779816"/>
              <a:ext cx="307571" cy="2826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3952701" y="4779816"/>
              <a:ext cx="307571" cy="282633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…</a:t>
              </a:r>
            </a:p>
          </p:txBody>
        </p:sp>
        <p:cxnSp>
          <p:nvCxnSpPr>
            <p:cNvPr id="18" name="Straight Connector 17"/>
            <p:cNvCxnSpPr/>
            <p:nvPr/>
          </p:nvCxnSpPr>
          <p:spPr>
            <a:xfrm>
              <a:off x="2701636" y="4771503"/>
              <a:ext cx="64423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2718954" y="5062449"/>
              <a:ext cx="64423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/>
          <p:cNvGrpSpPr/>
          <p:nvPr/>
        </p:nvGrpSpPr>
        <p:grpSpPr>
          <a:xfrm>
            <a:off x="407324" y="5062451"/>
            <a:ext cx="1451038" cy="1208917"/>
            <a:chOff x="407324" y="5062451"/>
            <a:chExt cx="1451038" cy="1208917"/>
          </a:xfrm>
        </p:grpSpPr>
        <p:sp>
          <p:nvSpPr>
            <p:cNvPr id="21" name="TextBox 20"/>
            <p:cNvSpPr txBox="1"/>
            <p:nvPr/>
          </p:nvSpPr>
          <p:spPr>
            <a:xfrm>
              <a:off x="407324" y="5902036"/>
              <a:ext cx="14510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v.cbegin</a:t>
              </a:r>
              <a:r>
                <a:rPr lang="en-US" dirty="0">
                  <a:latin typeface="Consolas" panose="020B0609020204030204" pitchFamily="49" charset="0"/>
                </a:rPr>
                <a:t>()</a:t>
              </a:r>
            </a:p>
          </p:txBody>
        </p:sp>
        <p:cxnSp>
          <p:nvCxnSpPr>
            <p:cNvPr id="23" name="Straight Arrow Connector 22"/>
            <p:cNvCxnSpPr>
              <a:endCxn id="6" idx="2"/>
            </p:cNvCxnSpPr>
            <p:nvPr/>
          </p:nvCxnSpPr>
          <p:spPr>
            <a:xfrm flipV="1">
              <a:off x="1130531" y="5062451"/>
              <a:ext cx="502920" cy="83127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/>
          <p:cNvGrpSpPr/>
          <p:nvPr/>
        </p:nvGrpSpPr>
        <p:grpSpPr>
          <a:xfrm>
            <a:off x="3606075" y="5062449"/>
            <a:ext cx="1197764" cy="1208919"/>
            <a:chOff x="3606075" y="5062449"/>
            <a:chExt cx="1197764" cy="1208919"/>
          </a:xfrm>
        </p:grpSpPr>
        <p:sp>
          <p:nvSpPr>
            <p:cNvPr id="26" name="TextBox 25"/>
            <p:cNvSpPr txBox="1"/>
            <p:nvPr/>
          </p:nvSpPr>
          <p:spPr>
            <a:xfrm>
              <a:off x="3606075" y="5902036"/>
              <a:ext cx="11977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latin typeface="Consolas" panose="020B0609020204030204" pitchFamily="49" charset="0"/>
                </a:rPr>
                <a:t>v.cend</a:t>
              </a:r>
              <a:r>
                <a:rPr lang="en-US" dirty="0">
                  <a:latin typeface="Consolas" panose="020B0609020204030204" pitchFamily="49" charset="0"/>
                </a:rPr>
                <a:t>()</a:t>
              </a:r>
            </a:p>
          </p:txBody>
        </p:sp>
        <p:cxnSp>
          <p:nvCxnSpPr>
            <p:cNvPr id="27" name="Straight Arrow Connector 26"/>
            <p:cNvCxnSpPr>
              <a:stCxn id="26" idx="0"/>
              <a:endCxn id="16" idx="2"/>
            </p:cNvCxnSpPr>
            <p:nvPr/>
          </p:nvCxnSpPr>
          <p:spPr>
            <a:xfrm flipH="1" flipV="1">
              <a:off x="4106487" y="5062449"/>
              <a:ext cx="98470" cy="83958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/>
          <p:cNvGrpSpPr/>
          <p:nvPr/>
        </p:nvGrpSpPr>
        <p:grpSpPr>
          <a:xfrm>
            <a:off x="1938251" y="5062450"/>
            <a:ext cx="878481" cy="1208918"/>
            <a:chOff x="3595358" y="5062450"/>
            <a:chExt cx="878481" cy="1208918"/>
          </a:xfrm>
        </p:grpSpPr>
        <p:sp>
          <p:nvSpPr>
            <p:cNvPr id="35" name="TextBox 34"/>
            <p:cNvSpPr txBox="1"/>
            <p:nvPr/>
          </p:nvSpPr>
          <p:spPr>
            <a:xfrm>
              <a:off x="3988461" y="5902036"/>
              <a:ext cx="4853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it</a:t>
              </a:r>
            </a:p>
          </p:txBody>
        </p:sp>
        <p:cxnSp>
          <p:nvCxnSpPr>
            <p:cNvPr id="36" name="Straight Arrow Connector 35"/>
            <p:cNvCxnSpPr>
              <a:stCxn id="35" idx="0"/>
              <a:endCxn id="7" idx="2"/>
            </p:cNvCxnSpPr>
            <p:nvPr/>
          </p:nvCxnSpPr>
          <p:spPr>
            <a:xfrm flipH="1" flipV="1">
              <a:off x="3595358" y="5062450"/>
              <a:ext cx="635792" cy="83958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Box 38"/>
          <p:cNvSpPr txBox="1"/>
          <p:nvPr/>
        </p:nvSpPr>
        <p:spPr>
          <a:xfrm>
            <a:off x="2874932" y="4693117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8490834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Classes/</a:t>
            </a:r>
            <a:r>
              <a:rPr lang="en-US" dirty="0" err="1"/>
              <a:t>structs</a:t>
            </a:r>
            <a:r>
              <a:rPr lang="en-US" dirty="0"/>
              <a:t> defining </a:t>
            </a:r>
            <a:r>
              <a:rPr lang="en-US" dirty="0">
                <a:latin typeface="Consolas" panose="020B0609020204030204" pitchFamily="49" charset="0"/>
              </a:rPr>
              <a:t>operator()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72FA-F273-424C-AEFD-E3BF6973D60A}" type="slidenum">
              <a:rPr lang="en-US" smtClean="0"/>
              <a:t>11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586217" y="1690688"/>
            <a:ext cx="8263801" cy="45243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#include &lt;</a:t>
            </a:r>
            <a:r>
              <a:rPr lang="en-US" sz="1600" dirty="0" err="1">
                <a:latin typeface="Consolas" panose="020B0609020204030204" pitchFamily="49" charset="0"/>
              </a:rPr>
              <a:t>iostream</a:t>
            </a:r>
            <a:r>
              <a:rPr lang="en-US" sz="1600" dirty="0">
                <a:latin typeface="Consolas" panose="020B0609020204030204" pitchFamily="49" charset="0"/>
              </a:rPr>
              <a:t>&gt;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class </a:t>
            </a:r>
            <a:r>
              <a:rPr lang="en-US" sz="1600" dirty="0" err="1">
                <a:latin typeface="Consolas" panose="020B0609020204030204" pitchFamily="49" charset="0"/>
              </a:rPr>
              <a:t>QuadraticFunction</a:t>
            </a:r>
            <a:r>
              <a:rPr lang="en-US" sz="1600" dirty="0">
                <a:latin typeface="Consolas" panose="020B0609020204030204" pitchFamily="49" charset="0"/>
              </a:rPr>
              <a:t> 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private: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double a_, b_, c_;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public: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latin typeface="Consolas" panose="020B0609020204030204" pitchFamily="49" charset="0"/>
              </a:rPr>
              <a:t>QuadraticFunction</a:t>
            </a:r>
            <a:r>
              <a:rPr lang="en-US" sz="1600" dirty="0">
                <a:latin typeface="Consolas" panose="020B0609020204030204" pitchFamily="49" charset="0"/>
              </a:rPr>
              <a:t>(double a, double b, double c) :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    a_ {a}, b_ {b}, c_ {c} {}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double operator()(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const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 double x) {return (a_*x + b_)*x + c_; }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};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 err="1">
                <a:latin typeface="Consolas" panose="020B0609020204030204" pitchFamily="49" charset="0"/>
              </a:rPr>
              <a:t>int</a:t>
            </a:r>
            <a:r>
              <a:rPr lang="en-US" sz="1600" dirty="0">
                <a:latin typeface="Consolas" panose="020B0609020204030204" pitchFamily="49" charset="0"/>
              </a:rPr>
              <a:t> main() 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</a:rPr>
              <a:t>QuadraticFunction</a:t>
            </a:r>
            <a:r>
              <a:rPr lang="en-US" sz="1600" dirty="0">
                <a:latin typeface="Consolas" panose="020B0609020204030204" pitchFamily="49" charset="0"/>
              </a:rPr>
              <a:t> f1(1.0, 0.0, -1.0);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</a:rPr>
              <a:t>QuadraticFunction</a:t>
            </a:r>
            <a:r>
              <a:rPr lang="en-US" sz="1600" dirty="0">
                <a:latin typeface="Consolas" panose="020B0609020204030204" pitchFamily="49" charset="0"/>
              </a:rPr>
              <a:t> f2(-1.0, 3.0, 0.0);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for (double x = -3.0; x &lt;= 3.0; x += 0.2)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latin typeface="Consolas" panose="020B0609020204030204" pitchFamily="49" charset="0"/>
              </a:rPr>
              <a:t>std</a:t>
            </a:r>
            <a:r>
              <a:rPr lang="en-US" sz="1600" dirty="0">
                <a:latin typeface="Consolas" panose="020B0609020204030204" pitchFamily="49" charset="0"/>
              </a:rPr>
              <a:t>::</a:t>
            </a:r>
            <a:r>
              <a:rPr lang="en-US" sz="1600" dirty="0" err="1">
                <a:latin typeface="Consolas" panose="020B0609020204030204" pitchFamily="49" charset="0"/>
              </a:rPr>
              <a:t>cout</a:t>
            </a:r>
            <a:r>
              <a:rPr lang="en-US" sz="1600" dirty="0">
                <a:latin typeface="Consolas" panose="020B0609020204030204" pitchFamily="49" charset="0"/>
              </a:rPr>
              <a:t> &lt;&lt; x &lt;&lt; " " &lt;&lt; 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f1(x)</a:t>
            </a:r>
            <a:r>
              <a:rPr lang="en-US" sz="1600" dirty="0">
                <a:latin typeface="Consolas" panose="020B0609020204030204" pitchFamily="49" charset="0"/>
              </a:rPr>
              <a:t> &lt;&lt; " " &lt;&lt; 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f2(x)</a:t>
            </a:r>
            <a:r>
              <a:rPr lang="en-US" sz="1600" dirty="0">
                <a:latin typeface="Consolas" panose="020B0609020204030204" pitchFamily="49" charset="0"/>
              </a:rPr>
              <a:t> &lt;&lt; "\n";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return 0;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993869" y="4596940"/>
            <a:ext cx="1725922" cy="802942"/>
            <a:chOff x="993869" y="4596940"/>
            <a:chExt cx="1725922" cy="80294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/>
                <p:cNvSpPr txBox="1"/>
                <p:nvPr/>
              </p:nvSpPr>
              <p:spPr>
                <a:xfrm>
                  <a:off x="993869" y="4596940"/>
                  <a:ext cx="141705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dirty="0"/>
                    <a:t>: x </a:t>
                  </a:r>
                  <a14:m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3869" y="4596940"/>
                  <a:ext cx="1417055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7759" t="-28261" r="-4741" b="-5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/>
                <p:cNvSpPr txBox="1"/>
                <p:nvPr/>
              </p:nvSpPr>
              <p:spPr>
                <a:xfrm>
                  <a:off x="993869" y="5122883"/>
                  <a:ext cx="172592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dirty="0"/>
                    <a:t>: x </a:t>
                  </a:r>
                  <a14:m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+3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3869" y="5122883"/>
                  <a:ext cx="1725922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6360" t="-28261" r="-3180" b="-5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629040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Lambda functions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Consolas" panose="020B0609020204030204" pitchFamily="49" charset="0"/>
              </a:rPr>
              <a:t>std</a:t>
            </a:r>
            <a:r>
              <a:rPr lang="en-US" dirty="0">
                <a:latin typeface="Consolas" panose="020B0609020204030204" pitchFamily="49" charset="0"/>
              </a:rPr>
              <a:t>::</a:t>
            </a:r>
            <a:r>
              <a:rPr lang="en-US" dirty="0" err="1">
                <a:latin typeface="Consolas" panose="020B0609020204030204" pitchFamily="49" charset="0"/>
              </a:rPr>
              <a:t>for_each</a:t>
            </a:r>
            <a:r>
              <a:rPr lang="en-US" dirty="0"/>
              <a:t> modifies</a:t>
            </a:r>
            <a:br>
              <a:rPr lang="en-US" dirty="0"/>
            </a:br>
            <a:r>
              <a:rPr lang="en-US" dirty="0"/>
              <a:t>container element in-place</a:t>
            </a:r>
          </a:p>
          <a:p>
            <a:r>
              <a:rPr lang="en-US" dirty="0"/>
              <a:t>Here, </a:t>
            </a:r>
            <a:r>
              <a:rPr lang="en-US" i="1" dirty="0"/>
              <a:t>x</a:t>
            </a:r>
            <a:r>
              <a:rPr lang="en-US" dirty="0"/>
              <a:t> </a:t>
            </a:r>
            <a:r>
              <a:rPr lang="en-US" dirty="0">
                <a:sym typeface="Symbol" panose="05050102010706020507" pitchFamily="18" charset="2"/>
              </a:rPr>
              <a:t> </a:t>
            </a:r>
            <a:r>
              <a:rPr lang="en-US" i="1" dirty="0">
                <a:sym typeface="Symbol" panose="05050102010706020507" pitchFamily="18" charset="2"/>
              </a:rPr>
              <a:t>x</a:t>
            </a:r>
            <a:r>
              <a:rPr lang="en-US" baseline="30000" dirty="0">
                <a:sym typeface="Symbol" panose="05050102010706020507" pitchFamily="18" charset="2"/>
              </a:rPr>
              <a:t>2</a:t>
            </a:r>
            <a:endParaRPr lang="en-US" dirty="0"/>
          </a:p>
          <a:p>
            <a:r>
              <a:rPr lang="en-US" dirty="0"/>
              <a:t>Lambda function = unnamed</a:t>
            </a:r>
            <a:br>
              <a:rPr lang="en-US" dirty="0"/>
            </a:br>
            <a:r>
              <a:rPr lang="en-US" dirty="0"/>
              <a:t>function, used once</a:t>
            </a:r>
          </a:p>
          <a:p>
            <a:r>
              <a:rPr lang="en-US" dirty="0"/>
              <a:t>Return type: often deduced</a:t>
            </a:r>
          </a:p>
          <a:p>
            <a:r>
              <a:rPr lang="en-US" dirty="0"/>
              <a:t>General form:</a:t>
            </a:r>
            <a:br>
              <a:rPr lang="en-US" dirty="0"/>
            </a:br>
            <a:r>
              <a:rPr lang="en-US" dirty="0">
                <a:latin typeface="Consolas" panose="020B0609020204030204" pitchFamily="49" charset="0"/>
              </a:rPr>
              <a:t>[ … ] ( … ) -&gt; </a:t>
            </a:r>
            <a:r>
              <a:rPr lang="en-US" dirty="0" err="1">
                <a:latin typeface="Consolas" panose="020B0609020204030204" pitchFamily="49" charset="0"/>
              </a:rPr>
              <a:t>return_type</a:t>
            </a:r>
            <a:r>
              <a:rPr lang="en-US" dirty="0">
                <a:latin typeface="Consolas" panose="020B0609020204030204" pitchFamily="49" charset="0"/>
              </a:rPr>
              <a:t> { … }</a:t>
            </a:r>
          </a:p>
          <a:p>
            <a:pPr marL="0" indent="0">
              <a:buNone/>
            </a:pPr>
            <a:endParaRPr lang="en-US" baseline="30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72FA-F273-424C-AEFD-E3BF6973D60A}" type="slidenum">
              <a:rPr lang="en-US" smtClean="0"/>
              <a:t>12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5599574" y="1385509"/>
            <a:ext cx="6131807" cy="329320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#include &lt;algorithm&gt;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#include &lt;</a:t>
            </a:r>
            <a:r>
              <a:rPr lang="en-US" sz="1600" dirty="0" err="1">
                <a:latin typeface="Consolas" panose="020B0609020204030204" pitchFamily="49" charset="0"/>
              </a:rPr>
              <a:t>iostream</a:t>
            </a:r>
            <a:r>
              <a:rPr lang="en-US" sz="16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#include &lt;vector&gt;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 err="1">
                <a:latin typeface="Consolas" panose="020B0609020204030204" pitchFamily="49" charset="0"/>
              </a:rPr>
              <a:t>int</a:t>
            </a:r>
            <a:r>
              <a:rPr lang="en-US" sz="1600" dirty="0">
                <a:latin typeface="Consolas" panose="020B0609020204030204" pitchFamily="49" charset="0"/>
              </a:rPr>
              <a:t> main() 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</a:rPr>
              <a:t>std</a:t>
            </a:r>
            <a:r>
              <a:rPr lang="en-US" sz="1600" dirty="0">
                <a:latin typeface="Consolas" panose="020B0609020204030204" pitchFamily="49" charset="0"/>
              </a:rPr>
              <a:t>::vector&lt;double&gt; v {0.5, 0.75, 1.0, 1.5, 3.5};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</a:rPr>
              <a:t>std</a:t>
            </a:r>
            <a:r>
              <a:rPr lang="en-US" sz="1600" dirty="0">
                <a:latin typeface="Consolas" panose="020B0609020204030204" pitchFamily="49" charset="0"/>
              </a:rPr>
              <a:t>::</a:t>
            </a:r>
            <a:r>
              <a:rPr lang="en-US" sz="1600" dirty="0" err="1">
                <a:latin typeface="Consolas" panose="020B0609020204030204" pitchFamily="49" charset="0"/>
              </a:rPr>
              <a:t>for_each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</a:rPr>
              <a:t>v.begin</a:t>
            </a:r>
            <a:r>
              <a:rPr lang="en-US" sz="1600" dirty="0">
                <a:latin typeface="Consolas" panose="020B0609020204030204" pitchFamily="49" charset="0"/>
              </a:rPr>
              <a:t>(), </a:t>
            </a:r>
            <a:r>
              <a:rPr lang="en-US" sz="1600" dirty="0" err="1">
                <a:latin typeface="Consolas" panose="020B0609020204030204" pitchFamily="49" charset="0"/>
              </a:rPr>
              <a:t>v.end</a:t>
            </a:r>
            <a:r>
              <a:rPr lang="en-US" sz="1600" dirty="0">
                <a:latin typeface="Consolas" panose="020B0609020204030204" pitchFamily="49" charset="0"/>
              </a:rPr>
              <a:t>(),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          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[] (double&amp; x) { x *= x; }</a:t>
            </a:r>
            <a:r>
              <a:rPr lang="en-US" sz="16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for (auto x: v)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latin typeface="Consolas" panose="020B0609020204030204" pitchFamily="49" charset="0"/>
              </a:rPr>
              <a:t>std</a:t>
            </a:r>
            <a:r>
              <a:rPr lang="en-US" sz="1600" dirty="0">
                <a:latin typeface="Consolas" panose="020B0609020204030204" pitchFamily="49" charset="0"/>
              </a:rPr>
              <a:t>::</a:t>
            </a:r>
            <a:r>
              <a:rPr lang="en-US" sz="1600" dirty="0" err="1">
                <a:latin typeface="Consolas" panose="020B0609020204030204" pitchFamily="49" charset="0"/>
              </a:rPr>
              <a:t>cout</a:t>
            </a:r>
            <a:r>
              <a:rPr lang="en-US" sz="1600" dirty="0">
                <a:latin typeface="Consolas" panose="020B0609020204030204" pitchFamily="49" charset="0"/>
              </a:rPr>
              <a:t> &lt;&lt; x &lt;&lt; " ";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</a:rPr>
              <a:t>std</a:t>
            </a:r>
            <a:r>
              <a:rPr lang="en-US" sz="1600" dirty="0">
                <a:latin typeface="Consolas" panose="020B0609020204030204" pitchFamily="49" charset="0"/>
              </a:rPr>
              <a:t>::</a:t>
            </a:r>
            <a:r>
              <a:rPr lang="en-US" sz="1600" dirty="0" err="1">
                <a:latin typeface="Consolas" panose="020B0609020204030204" pitchFamily="49" charset="0"/>
              </a:rPr>
              <a:t>cout</a:t>
            </a:r>
            <a:r>
              <a:rPr lang="en-US" sz="1600" dirty="0">
                <a:latin typeface="Consolas" panose="020B0609020204030204" pitchFamily="49" charset="0"/>
              </a:rPr>
              <a:t> &lt;&lt; </a:t>
            </a:r>
            <a:r>
              <a:rPr lang="en-US" sz="1600" dirty="0" err="1">
                <a:latin typeface="Consolas" panose="020B0609020204030204" pitchFamily="49" charset="0"/>
              </a:rPr>
              <a:t>std</a:t>
            </a:r>
            <a:r>
              <a:rPr lang="en-US" sz="1600" dirty="0">
                <a:latin typeface="Consolas" panose="020B0609020204030204" pitchFamily="49" charset="0"/>
              </a:rPr>
              <a:t>::</a:t>
            </a:r>
            <a:r>
              <a:rPr lang="en-US" sz="1600" dirty="0" err="1">
                <a:latin typeface="Consolas" panose="020B0609020204030204" pitchFamily="49" charset="0"/>
              </a:rPr>
              <a:t>endl</a:t>
            </a:r>
            <a:r>
              <a:rPr lang="en-US" sz="16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return 0;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2442" y="6169580"/>
            <a:ext cx="88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context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1187966" y="5511567"/>
            <a:ext cx="934452" cy="658013"/>
            <a:chOff x="1187966" y="5511567"/>
            <a:chExt cx="934452" cy="658013"/>
          </a:xfrm>
        </p:grpSpPr>
        <p:sp>
          <p:nvSpPr>
            <p:cNvPr id="6" name="Left Brace 5"/>
            <p:cNvSpPr/>
            <p:nvPr/>
          </p:nvSpPr>
          <p:spPr>
            <a:xfrm rot="16200000">
              <a:off x="1610688" y="5088845"/>
              <a:ext cx="89008" cy="934452"/>
            </a:xfrm>
            <a:prstGeom prst="leftBrac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Connector 12"/>
            <p:cNvCxnSpPr>
              <a:stCxn id="6" idx="1"/>
              <a:endCxn id="9" idx="0"/>
            </p:cNvCxnSpPr>
            <p:nvPr/>
          </p:nvCxnSpPr>
          <p:spPr>
            <a:xfrm>
              <a:off x="1655192" y="5600575"/>
              <a:ext cx="0" cy="569005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2194454" y="5511567"/>
            <a:ext cx="1189300" cy="1027345"/>
            <a:chOff x="2194454" y="5511567"/>
            <a:chExt cx="1189300" cy="1027345"/>
          </a:xfrm>
        </p:grpSpPr>
        <p:sp>
          <p:nvSpPr>
            <p:cNvPr id="7" name="Left Brace 6"/>
            <p:cNvSpPr/>
            <p:nvPr/>
          </p:nvSpPr>
          <p:spPr>
            <a:xfrm rot="16200000">
              <a:off x="2744600" y="5088845"/>
              <a:ext cx="89008" cy="934452"/>
            </a:xfrm>
            <a:prstGeom prst="leftBrac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194454" y="6169580"/>
              <a:ext cx="11893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</a:rPr>
                <a:t>arguments</a:t>
              </a:r>
            </a:p>
          </p:txBody>
        </p:sp>
        <p:cxnSp>
          <p:nvCxnSpPr>
            <p:cNvPr id="16" name="Straight Connector 15"/>
            <p:cNvCxnSpPr>
              <a:stCxn id="7" idx="1"/>
              <a:endCxn id="10" idx="0"/>
            </p:cNvCxnSpPr>
            <p:nvPr/>
          </p:nvCxnSpPr>
          <p:spPr>
            <a:xfrm>
              <a:off x="2789104" y="5600575"/>
              <a:ext cx="0" cy="56900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6163139" y="5512417"/>
            <a:ext cx="1492716" cy="1014818"/>
            <a:chOff x="6163139" y="5512417"/>
            <a:chExt cx="1492716" cy="1014818"/>
          </a:xfrm>
        </p:grpSpPr>
        <p:sp>
          <p:nvSpPr>
            <p:cNvPr id="8" name="Left Brace 7"/>
            <p:cNvSpPr/>
            <p:nvPr/>
          </p:nvSpPr>
          <p:spPr>
            <a:xfrm rot="16200000">
              <a:off x="6864993" y="5089695"/>
              <a:ext cx="89008" cy="934452"/>
            </a:xfrm>
            <a:prstGeom prst="leftBrac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163139" y="6157903"/>
              <a:ext cx="1492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function body</a:t>
              </a:r>
            </a:p>
          </p:txBody>
        </p:sp>
        <p:cxnSp>
          <p:nvCxnSpPr>
            <p:cNvPr id="19" name="Straight Connector 18"/>
            <p:cNvCxnSpPr>
              <a:stCxn id="8" idx="1"/>
              <a:endCxn id="11" idx="0"/>
            </p:cNvCxnSpPr>
            <p:nvPr/>
          </p:nvCxnSpPr>
          <p:spPr>
            <a:xfrm>
              <a:off x="6909497" y="5601425"/>
              <a:ext cx="0" cy="55647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26259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Lambda functions &amp;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Consolas" panose="020B0609020204030204" pitchFamily="49" charset="0"/>
              </a:rPr>
              <a:t>[]</a:t>
            </a:r>
            <a:r>
              <a:rPr lang="en-US" dirty="0"/>
              <a:t>: nothing</a:t>
            </a:r>
          </a:p>
          <a:p>
            <a:r>
              <a:rPr lang="en-US" dirty="0">
                <a:latin typeface="Consolas" panose="020B0609020204030204" pitchFamily="49" charset="0"/>
              </a:rPr>
              <a:t>[=]</a:t>
            </a:r>
            <a:r>
              <a:rPr lang="en-US" dirty="0"/>
              <a:t>: everything in</a:t>
            </a:r>
            <a:br>
              <a:rPr lang="en-US" dirty="0"/>
            </a:br>
            <a:r>
              <a:rPr lang="en-US" dirty="0"/>
              <a:t>scope by value</a:t>
            </a:r>
            <a:br>
              <a:rPr lang="en-US" dirty="0"/>
            </a:br>
            <a:r>
              <a:rPr lang="en-US" dirty="0"/>
              <a:t>(copy)</a:t>
            </a:r>
          </a:p>
          <a:p>
            <a:r>
              <a:rPr lang="en-US" dirty="0">
                <a:latin typeface="Consolas" panose="020B0609020204030204" pitchFamily="49" charset="0"/>
              </a:rPr>
              <a:t>[&amp;]</a:t>
            </a:r>
            <a:r>
              <a:rPr lang="en-US" dirty="0"/>
              <a:t>: everything in</a:t>
            </a:r>
            <a:br>
              <a:rPr lang="en-US" dirty="0"/>
            </a:br>
            <a:r>
              <a:rPr lang="en-US" dirty="0"/>
              <a:t>scope by reference</a:t>
            </a:r>
          </a:p>
          <a:p>
            <a:r>
              <a:rPr lang="en-US" dirty="0">
                <a:latin typeface="Consolas" panose="020B0609020204030204" pitchFamily="49" charset="0"/>
              </a:rPr>
              <a:t>[var]</a:t>
            </a:r>
            <a:r>
              <a:rPr lang="en-US" dirty="0"/>
              <a:t>: variable </a:t>
            </a:r>
            <a:r>
              <a:rPr lang="en-US" dirty="0">
                <a:latin typeface="Consolas" panose="020B0609020204030204" pitchFamily="49" charset="0"/>
              </a:rPr>
              <a:t>var</a:t>
            </a:r>
            <a:br>
              <a:rPr lang="en-US" dirty="0"/>
            </a:br>
            <a:r>
              <a:rPr lang="en-US" dirty="0"/>
              <a:t>by  value (copy)</a:t>
            </a:r>
          </a:p>
          <a:p>
            <a:r>
              <a:rPr lang="en-US" dirty="0">
                <a:latin typeface="Consolas" panose="020B0609020204030204" pitchFamily="49" charset="0"/>
              </a:rPr>
              <a:t>[&amp;</a:t>
            </a:r>
            <a:r>
              <a:rPr lang="en-US" dirty="0" err="1">
                <a:latin typeface="Consolas" panose="020B0609020204030204" pitchFamily="49" charset="0"/>
              </a:rPr>
              <a:t>var</a:t>
            </a:r>
            <a:r>
              <a:rPr lang="en-US" dirty="0">
                <a:latin typeface="Consolas" panose="020B0609020204030204" pitchFamily="49" charset="0"/>
              </a:rPr>
              <a:t>]</a:t>
            </a:r>
            <a:r>
              <a:rPr lang="en-US" dirty="0"/>
              <a:t>: variable </a:t>
            </a:r>
            <a:r>
              <a:rPr lang="en-US" dirty="0" err="1">
                <a:latin typeface="Consolas" panose="020B0609020204030204" pitchFamily="49" charset="0"/>
              </a:rPr>
              <a:t>var</a:t>
            </a:r>
            <a:br>
              <a:rPr lang="en-US" dirty="0"/>
            </a:br>
            <a:r>
              <a:rPr lang="en-US" dirty="0"/>
              <a:t>by reference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72FA-F273-424C-AEFD-E3BF6973D60A}" type="slidenum">
              <a:rPr lang="en-US" smtClean="0"/>
              <a:t>13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101800" y="1335175"/>
            <a:ext cx="6805068" cy="501675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#include &lt;algorithm&gt;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#include &lt;</a:t>
            </a:r>
            <a:r>
              <a:rPr lang="en-US" sz="1600" dirty="0" err="1">
                <a:latin typeface="Consolas" panose="020B0609020204030204" pitchFamily="49" charset="0"/>
              </a:rPr>
              <a:t>iostream</a:t>
            </a:r>
            <a:r>
              <a:rPr lang="en-US" sz="16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#include &lt;vector&gt;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 err="1">
                <a:latin typeface="Consolas" panose="020B0609020204030204" pitchFamily="49" charset="0"/>
              </a:rPr>
              <a:t>int</a:t>
            </a:r>
            <a:r>
              <a:rPr lang="en-US" sz="1600" dirty="0">
                <a:latin typeface="Consolas" panose="020B0609020204030204" pitchFamily="49" charset="0"/>
              </a:rPr>
              <a:t> main() 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</a:rPr>
              <a:t>std</a:t>
            </a:r>
            <a:r>
              <a:rPr lang="en-US" sz="1600" dirty="0">
                <a:latin typeface="Consolas" panose="020B0609020204030204" pitchFamily="49" charset="0"/>
              </a:rPr>
              <a:t>::vector&lt;double&gt; </a:t>
            </a:r>
            <a:r>
              <a:rPr lang="en-US" sz="1600" dirty="0" err="1">
                <a:latin typeface="Consolas" panose="020B0609020204030204" pitchFamily="49" charset="0"/>
              </a:rPr>
              <a:t>x_vals</a:t>
            </a:r>
            <a:r>
              <a:rPr lang="en-US" sz="16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for (double x = -3.0; x &lt;= 3.0; x += 0.2)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latin typeface="Consolas" panose="020B0609020204030204" pitchFamily="49" charset="0"/>
              </a:rPr>
              <a:t>x_vals.push_back</a:t>
            </a:r>
            <a:r>
              <a:rPr lang="en-US" sz="1600" dirty="0">
                <a:latin typeface="Consolas" panose="020B0609020204030204" pitchFamily="49" charset="0"/>
              </a:rPr>
              <a:t>(x);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double a {-11.0};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double b {3.0};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double c {1.5};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</a:rPr>
              <a:t>std</a:t>
            </a:r>
            <a:r>
              <a:rPr lang="en-US" sz="1600" dirty="0">
                <a:latin typeface="Consolas" panose="020B0609020204030204" pitchFamily="49" charset="0"/>
              </a:rPr>
              <a:t>::vector&lt;double&gt; </a:t>
            </a:r>
            <a:r>
              <a:rPr lang="en-US" sz="1600" dirty="0" err="1">
                <a:latin typeface="Consolas" panose="020B0609020204030204" pitchFamily="49" charset="0"/>
              </a:rPr>
              <a:t>y_vals</a:t>
            </a:r>
            <a:r>
              <a:rPr lang="en-US" sz="16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</a:rPr>
              <a:t>std</a:t>
            </a:r>
            <a:r>
              <a:rPr lang="en-US" sz="1600" dirty="0">
                <a:latin typeface="Consolas" panose="020B0609020204030204" pitchFamily="49" charset="0"/>
              </a:rPr>
              <a:t>::transform(</a:t>
            </a:r>
            <a:r>
              <a:rPr lang="en-US" sz="1600" dirty="0" err="1">
                <a:latin typeface="Consolas" panose="020B0609020204030204" pitchFamily="49" charset="0"/>
              </a:rPr>
              <a:t>x_vals.begin</a:t>
            </a:r>
            <a:r>
              <a:rPr lang="en-US" sz="1600" dirty="0">
                <a:latin typeface="Consolas" panose="020B0609020204030204" pitchFamily="49" charset="0"/>
              </a:rPr>
              <a:t>(), </a:t>
            </a:r>
            <a:r>
              <a:rPr lang="en-US" sz="1600" dirty="0" err="1">
                <a:latin typeface="Consolas" panose="020B0609020204030204" pitchFamily="49" charset="0"/>
              </a:rPr>
              <a:t>x_vals.end</a:t>
            </a:r>
            <a:r>
              <a:rPr lang="en-US" sz="1600" dirty="0">
                <a:latin typeface="Consolas" panose="020B0609020204030204" pitchFamily="49" charset="0"/>
              </a:rPr>
              <a:t>(),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           </a:t>
            </a:r>
            <a:r>
              <a:rPr lang="en-US" sz="1600" dirty="0" err="1">
                <a:latin typeface="Consolas" panose="020B0609020204030204" pitchFamily="49" charset="0"/>
              </a:rPr>
              <a:t>std</a:t>
            </a:r>
            <a:r>
              <a:rPr lang="en-US" sz="1600" dirty="0">
                <a:latin typeface="Consolas" panose="020B0609020204030204" pitchFamily="49" charset="0"/>
              </a:rPr>
              <a:t>::</a:t>
            </a:r>
            <a:r>
              <a:rPr lang="en-US" sz="1600" dirty="0" err="1">
                <a:latin typeface="Consolas" panose="020B0609020204030204" pitchFamily="49" charset="0"/>
              </a:rPr>
              <a:t>back_inserter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</a:rPr>
              <a:t>y_vals</a:t>
            </a:r>
            <a:r>
              <a:rPr lang="en-US" sz="1600" dirty="0">
                <a:latin typeface="Consolas" panose="020B0609020204030204" pitchFamily="49" charset="0"/>
              </a:rPr>
              <a:t>),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           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[&amp;a, &amp;b, &amp;c] (double&amp; x) {</a:t>
            </a:r>
          </a:p>
          <a:p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                       return (a*x + b)*x + c;});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for (</a:t>
            </a:r>
            <a:r>
              <a:rPr lang="en-US" sz="1600" dirty="0" err="1">
                <a:latin typeface="Consolas" panose="020B0609020204030204" pitchFamily="49" charset="0"/>
              </a:rPr>
              <a:t>std</a:t>
            </a:r>
            <a:r>
              <a:rPr lang="en-US" sz="1600" dirty="0">
                <a:latin typeface="Consolas" panose="020B0609020204030204" pitchFamily="49" charset="0"/>
              </a:rPr>
              <a:t>::</a:t>
            </a:r>
            <a:r>
              <a:rPr lang="en-US" sz="1600" dirty="0" err="1">
                <a:latin typeface="Consolas" panose="020B0609020204030204" pitchFamily="49" charset="0"/>
              </a:rPr>
              <a:t>size_t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</a:rPr>
              <a:t> = 0; </a:t>
            </a:r>
            <a:r>
              <a:rPr lang="en-US" sz="1600" dirty="0" err="1">
                <a:latin typeface="Consolas" panose="020B06090202040302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</a:rPr>
              <a:t> &lt; </a:t>
            </a:r>
            <a:r>
              <a:rPr lang="en-US" sz="1600" dirty="0" err="1">
                <a:latin typeface="Consolas" panose="020B0609020204030204" pitchFamily="49" charset="0"/>
              </a:rPr>
              <a:t>x_vals.size</a:t>
            </a:r>
            <a:r>
              <a:rPr lang="en-US" sz="1600" dirty="0">
                <a:latin typeface="Consolas" panose="020B0609020204030204" pitchFamily="49" charset="0"/>
              </a:rPr>
              <a:t>(); ++</a:t>
            </a:r>
            <a:r>
              <a:rPr lang="en-US" sz="1600" dirty="0" err="1">
                <a:latin typeface="Consolas" panose="020B06090202040302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</a:rPr>
              <a:t>)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latin typeface="Consolas" panose="020B0609020204030204" pitchFamily="49" charset="0"/>
              </a:rPr>
              <a:t>std</a:t>
            </a:r>
            <a:r>
              <a:rPr lang="en-US" sz="1600" dirty="0">
                <a:latin typeface="Consolas" panose="020B0609020204030204" pitchFamily="49" charset="0"/>
              </a:rPr>
              <a:t>::</a:t>
            </a:r>
            <a:r>
              <a:rPr lang="en-US" sz="1600" dirty="0" err="1">
                <a:latin typeface="Consolas" panose="020B0609020204030204" pitchFamily="49" charset="0"/>
              </a:rPr>
              <a:t>cout</a:t>
            </a:r>
            <a:r>
              <a:rPr lang="en-US" sz="1600" dirty="0">
                <a:latin typeface="Consolas" panose="020B0609020204030204" pitchFamily="49" charset="0"/>
              </a:rPr>
              <a:t> &lt;&lt; </a:t>
            </a:r>
            <a:r>
              <a:rPr lang="en-US" sz="1600" dirty="0" err="1">
                <a:latin typeface="Consolas" panose="020B0609020204030204" pitchFamily="49" charset="0"/>
              </a:rPr>
              <a:t>x_vals</a:t>
            </a:r>
            <a:r>
              <a:rPr lang="en-US" sz="1600" dirty="0">
                <a:latin typeface="Consolas" panose="020B0609020204030204" pitchFamily="49" charset="0"/>
              </a:rPr>
              <a:t>[</a:t>
            </a:r>
            <a:r>
              <a:rPr lang="en-US" sz="1600" dirty="0" err="1">
                <a:latin typeface="Consolas" panose="020B06090202040302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</a:rPr>
              <a:t>] &lt;&lt; " " &lt;&lt; </a:t>
            </a:r>
            <a:r>
              <a:rPr lang="en-US" sz="1600" dirty="0" err="1">
                <a:latin typeface="Consolas" panose="020B0609020204030204" pitchFamily="49" charset="0"/>
              </a:rPr>
              <a:t>y_vals</a:t>
            </a:r>
            <a:r>
              <a:rPr lang="en-US" sz="1600" dirty="0">
                <a:latin typeface="Consolas" panose="020B0609020204030204" pitchFamily="49" charset="0"/>
              </a:rPr>
              <a:t>[</a:t>
            </a:r>
            <a:r>
              <a:rPr lang="en-US" sz="1600" dirty="0" err="1">
                <a:latin typeface="Consolas" panose="020B06090202040302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</a:rPr>
              <a:t>] &lt;&lt; "\n";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return 0;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8753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Placement new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new object</a:t>
            </a:r>
            <a:br>
              <a:rPr lang="en-US" dirty="0"/>
            </a:br>
            <a:r>
              <a:rPr lang="en-US" dirty="0"/>
              <a:t>in pre-allocated</a:t>
            </a:r>
            <a:br>
              <a:rPr lang="en-US" dirty="0"/>
            </a:br>
            <a:r>
              <a:rPr lang="en-US" dirty="0"/>
              <a:t>memory location</a:t>
            </a:r>
          </a:p>
          <a:p>
            <a:r>
              <a:rPr lang="en-US" dirty="0"/>
              <a:t>E.g., custom memory</a:t>
            </a:r>
            <a:br>
              <a:rPr lang="en-US" dirty="0"/>
            </a:br>
            <a:r>
              <a:rPr lang="en-US" dirty="0"/>
              <a:t>allocator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72FA-F273-424C-AEFD-E3BF6973D60A}" type="slidenum">
              <a:rPr lang="en-US" smtClean="0"/>
              <a:t>14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101800" y="1335175"/>
            <a:ext cx="5795176" cy="45243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#include &lt;</a:t>
            </a:r>
            <a:r>
              <a:rPr lang="en-US" sz="1600" dirty="0" err="1">
                <a:latin typeface="Consolas" panose="020B0609020204030204" pitchFamily="49" charset="0"/>
              </a:rPr>
              <a:t>cmath</a:t>
            </a:r>
            <a:r>
              <a:rPr lang="en-US" sz="16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#include &lt;</a:t>
            </a:r>
            <a:r>
              <a:rPr lang="en-US" sz="1600" dirty="0" err="1">
                <a:latin typeface="Consolas" panose="020B0609020204030204" pitchFamily="49" charset="0"/>
              </a:rPr>
              <a:t>iostream</a:t>
            </a:r>
            <a:r>
              <a:rPr lang="en-US" sz="1600" dirty="0">
                <a:latin typeface="Consolas" panose="020B0609020204030204" pitchFamily="49" charset="0"/>
              </a:rPr>
              <a:t>&gt;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 err="1">
                <a:latin typeface="Consolas" panose="020B0609020204030204" pitchFamily="49" charset="0"/>
              </a:rPr>
              <a:t>struct</a:t>
            </a:r>
            <a:r>
              <a:rPr lang="en-US" sz="1600" dirty="0">
                <a:latin typeface="Consolas" panose="020B0609020204030204" pitchFamily="49" charset="0"/>
              </a:rPr>
              <a:t> Point 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double x, y;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Point() {…}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};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 err="1">
                <a:latin typeface="Consolas" panose="020B0609020204030204" pitchFamily="49" charset="0"/>
              </a:rPr>
              <a:t>int</a:t>
            </a:r>
            <a:r>
              <a:rPr lang="en-US" sz="1600" dirty="0">
                <a:latin typeface="Consolas" panose="020B0609020204030204" pitchFamily="49" charset="0"/>
              </a:rPr>
              <a:t> main() 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Point* </a:t>
            </a:r>
            <a:r>
              <a:rPr lang="en-US" sz="1600" dirty="0" err="1">
                <a:latin typeface="Consolas" panose="020B0609020204030204" pitchFamily="49" charset="0"/>
              </a:rPr>
              <a:t>p_ptr</a:t>
            </a:r>
            <a:r>
              <a:rPr lang="en-US" sz="1600" dirty="0">
                <a:latin typeface="Consolas" panose="020B0609020204030204" pitchFamily="49" charset="0"/>
              </a:rPr>
              <a:t> = (Point*) </a:t>
            </a:r>
            <a:r>
              <a:rPr lang="en-US" sz="1600" dirty="0" err="1">
                <a:latin typeface="Consolas" panose="020B0609020204030204" pitchFamily="49" charset="0"/>
              </a:rPr>
              <a:t>malloc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</a:rPr>
              <a:t>sizeof</a:t>
            </a:r>
            <a:r>
              <a:rPr lang="en-US" sz="1600" dirty="0">
                <a:latin typeface="Consolas" panose="020B0609020204030204" pitchFamily="49" charset="0"/>
              </a:rPr>
              <a:t>(Point));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double </a:t>
            </a:r>
            <a:r>
              <a:rPr lang="en-US" sz="1600" dirty="0" err="1">
                <a:latin typeface="Consolas" panose="020B0609020204030204" pitchFamily="49" charset="0"/>
              </a:rPr>
              <a:t>dist</a:t>
            </a:r>
            <a:r>
              <a:rPr lang="en-US" sz="1600" dirty="0">
                <a:latin typeface="Consolas" panose="020B0609020204030204" pitchFamily="49" charset="0"/>
              </a:rPr>
              <a:t> {0.0};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for (long </a:t>
            </a:r>
            <a:r>
              <a:rPr lang="en-US" sz="1600" dirty="0" err="1">
                <a:latin typeface="Consolas" panose="020B06090202040302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</a:rPr>
              <a:t> = 0; </a:t>
            </a:r>
            <a:r>
              <a:rPr lang="en-US" sz="1600" dirty="0" err="1">
                <a:latin typeface="Consolas" panose="020B06090202040302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</a:rPr>
              <a:t> &lt; </a:t>
            </a:r>
            <a:r>
              <a:rPr lang="en-US" sz="1600" dirty="0" err="1">
                <a:latin typeface="Consolas" panose="020B0609020204030204" pitchFamily="49" charset="0"/>
              </a:rPr>
              <a:t>i_max</a:t>
            </a:r>
            <a:r>
              <a:rPr lang="en-US" sz="1600" dirty="0">
                <a:latin typeface="Consolas" panose="020B0609020204030204" pitchFamily="49" charset="0"/>
              </a:rPr>
              <a:t>; ++</a:t>
            </a:r>
            <a:r>
              <a:rPr lang="en-US" sz="1600" dirty="0" err="1">
                <a:latin typeface="Consolas" panose="020B06090202040302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</a:rPr>
              <a:t>) 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Point* p = new(</a:t>
            </a:r>
            <a:r>
              <a:rPr lang="en-US" sz="1600" dirty="0" err="1">
                <a:latin typeface="Consolas" panose="020B0609020204030204" pitchFamily="49" charset="0"/>
              </a:rPr>
              <a:t>p_ptr</a:t>
            </a:r>
            <a:r>
              <a:rPr lang="en-US" sz="1600" dirty="0">
                <a:latin typeface="Consolas" panose="020B0609020204030204" pitchFamily="49" charset="0"/>
              </a:rPr>
              <a:t>) Point();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latin typeface="Consolas" panose="020B0609020204030204" pitchFamily="49" charset="0"/>
              </a:rPr>
              <a:t>dist</a:t>
            </a:r>
            <a:r>
              <a:rPr lang="en-US" sz="1600" dirty="0">
                <a:latin typeface="Consolas" panose="020B0609020204030204" pitchFamily="49" charset="0"/>
              </a:rPr>
              <a:t> += </a:t>
            </a:r>
            <a:r>
              <a:rPr lang="en-US" sz="1600" dirty="0" err="1">
                <a:latin typeface="Consolas" panose="020B0609020204030204" pitchFamily="49" charset="0"/>
              </a:rPr>
              <a:t>std</a:t>
            </a:r>
            <a:r>
              <a:rPr lang="en-US" sz="1600" dirty="0">
                <a:latin typeface="Consolas" panose="020B0609020204030204" pitchFamily="49" charset="0"/>
              </a:rPr>
              <a:t>::</a:t>
            </a:r>
            <a:r>
              <a:rPr lang="en-US" sz="1600" dirty="0" err="1">
                <a:latin typeface="Consolas" panose="020B0609020204030204" pitchFamily="49" charset="0"/>
              </a:rPr>
              <a:t>sqrt</a:t>
            </a:r>
            <a:r>
              <a:rPr lang="en-US" sz="1600" dirty="0">
                <a:latin typeface="Consolas" panose="020B0609020204030204" pitchFamily="49" charset="0"/>
              </a:rPr>
              <a:t>(p-&gt;x*p-&gt;x + p-&gt;y*p-&gt;y);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free(</a:t>
            </a:r>
            <a:r>
              <a:rPr lang="en-US" sz="1600" dirty="0" err="1">
                <a:latin typeface="Consolas" panose="020B0609020204030204" pitchFamily="49" charset="0"/>
              </a:rPr>
              <a:t>p_ptr</a:t>
            </a:r>
            <a:r>
              <a:rPr lang="en-US" sz="16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return 0;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07275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TBB algorithms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72FA-F273-424C-AEFD-E3BF6973D60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1123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parallel_for</a:t>
            </a:r>
            <a:r>
              <a:rPr lang="en-US" dirty="0"/>
              <a:t>: simplest form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72FA-F273-424C-AEFD-E3BF6973D60A}" type="slidenum">
              <a:rPr lang="en-US" smtClean="0"/>
              <a:t>16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458843" y="1478243"/>
            <a:ext cx="8937062" cy="47705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#include &lt;algorithm&gt;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#include &lt;</a:t>
            </a:r>
            <a:r>
              <a:rPr lang="en-US" sz="1600" dirty="0" err="1">
                <a:latin typeface="Consolas" panose="020B0609020204030204" pitchFamily="49" charset="0"/>
              </a:rPr>
              <a:t>iostream</a:t>
            </a:r>
            <a:r>
              <a:rPr lang="en-US" sz="16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#include &lt;numeric&gt;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#include &lt;</a:t>
            </a:r>
            <a:r>
              <a:rPr lang="en-US" sz="1600" dirty="0" err="1">
                <a:latin typeface="Consolas" panose="020B0609020204030204" pitchFamily="49" charset="0"/>
              </a:rPr>
              <a:t>tbb</a:t>
            </a:r>
            <a:r>
              <a:rPr lang="en-US" sz="1600" dirty="0">
                <a:latin typeface="Consolas" panose="020B0609020204030204" pitchFamily="49" charset="0"/>
              </a:rPr>
              <a:t>/</a:t>
            </a:r>
            <a:r>
              <a:rPr lang="en-US" sz="1600" dirty="0" err="1">
                <a:latin typeface="Consolas" panose="020B0609020204030204" pitchFamily="49" charset="0"/>
              </a:rPr>
              <a:t>tbb.h</a:t>
            </a:r>
            <a:r>
              <a:rPr lang="en-US" sz="16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#include &lt;</a:t>
            </a:r>
            <a:r>
              <a:rPr lang="en-US" sz="1600" dirty="0" err="1">
                <a:latin typeface="Consolas" panose="020B0609020204030204" pitchFamily="49" charset="0"/>
              </a:rPr>
              <a:t>valarray</a:t>
            </a:r>
            <a:r>
              <a:rPr lang="en-US" sz="1600" dirty="0">
                <a:latin typeface="Consolas" panose="020B0609020204030204" pitchFamily="49" charset="0"/>
              </a:rPr>
              <a:t>&gt;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 err="1">
                <a:latin typeface="Consolas" panose="020B0609020204030204" pitchFamily="49" charset="0"/>
              </a:rPr>
              <a:t>int</a:t>
            </a:r>
            <a:r>
              <a:rPr lang="en-US" sz="1600" dirty="0">
                <a:latin typeface="Consolas" panose="020B0609020204030204" pitchFamily="49" charset="0"/>
              </a:rPr>
              <a:t> main() 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</a:rPr>
              <a:t>std</a:t>
            </a:r>
            <a:r>
              <a:rPr lang="en-US" sz="1600" dirty="0">
                <a:latin typeface="Consolas" panose="020B0609020204030204" pitchFamily="49" charset="0"/>
              </a:rPr>
              <a:t>::</a:t>
            </a:r>
            <a:r>
              <a:rPr lang="en-US" sz="1600" dirty="0" err="1">
                <a:latin typeface="Consolas" panose="020B0609020204030204" pitchFamily="49" charset="0"/>
              </a:rPr>
              <a:t>valarray</a:t>
            </a:r>
            <a:r>
              <a:rPr lang="en-US" sz="1600" dirty="0">
                <a:latin typeface="Consolas" panose="020B0609020204030204" pitchFamily="49" charset="0"/>
              </a:rPr>
              <a:t>&lt;</a:t>
            </a:r>
            <a:r>
              <a:rPr lang="en-US" sz="1600" dirty="0" err="1">
                <a:latin typeface="Consolas" panose="020B0609020204030204" pitchFamily="49" charset="0"/>
              </a:rPr>
              <a:t>int</a:t>
            </a:r>
            <a:r>
              <a:rPr lang="en-US" sz="1600" dirty="0">
                <a:latin typeface="Consolas" panose="020B0609020204030204" pitchFamily="49" charset="0"/>
              </a:rPr>
              <a:t>&gt; data(10000);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</a:rPr>
              <a:t>std</a:t>
            </a:r>
            <a:r>
              <a:rPr lang="en-US" sz="1600" dirty="0">
                <a:latin typeface="Consolas" panose="020B0609020204030204" pitchFamily="49" charset="0"/>
              </a:rPr>
              <a:t>::iota(</a:t>
            </a:r>
            <a:r>
              <a:rPr lang="en-US" sz="1600" dirty="0" err="1">
                <a:latin typeface="Consolas" panose="020B0609020204030204" pitchFamily="49" charset="0"/>
              </a:rPr>
              <a:t>std</a:t>
            </a:r>
            <a:r>
              <a:rPr lang="en-US" sz="1600" dirty="0">
                <a:latin typeface="Consolas" panose="020B0609020204030204" pitchFamily="49" charset="0"/>
              </a:rPr>
              <a:t>::begin(data), </a:t>
            </a:r>
            <a:r>
              <a:rPr lang="en-US" sz="1600" dirty="0" err="1">
                <a:latin typeface="Consolas" panose="020B0609020204030204" pitchFamily="49" charset="0"/>
              </a:rPr>
              <a:t>std</a:t>
            </a:r>
            <a:r>
              <a:rPr lang="en-US" sz="1600" dirty="0">
                <a:latin typeface="Consolas" panose="020B0609020204030204" pitchFamily="49" charset="0"/>
              </a:rPr>
              <a:t>::end(data), 0);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</a:rPr>
              <a:t>std</a:t>
            </a:r>
            <a:r>
              <a:rPr lang="en-US" sz="1600" dirty="0">
                <a:latin typeface="Consolas" panose="020B0609020204030204" pitchFamily="49" charset="0"/>
              </a:rPr>
              <a:t>::</a:t>
            </a:r>
            <a:r>
              <a:rPr lang="en-US" sz="1600" dirty="0" err="1">
                <a:latin typeface="Consolas" panose="020B0609020204030204" pitchFamily="49" charset="0"/>
              </a:rPr>
              <a:t>for_each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</a:rPr>
              <a:t>std</a:t>
            </a:r>
            <a:r>
              <a:rPr lang="en-US" sz="1600" dirty="0">
                <a:latin typeface="Consolas" panose="020B0609020204030204" pitchFamily="49" charset="0"/>
              </a:rPr>
              <a:t>::begin(data), </a:t>
            </a:r>
            <a:r>
              <a:rPr lang="en-US" sz="1600" dirty="0" err="1">
                <a:latin typeface="Consolas" panose="020B0609020204030204" pitchFamily="49" charset="0"/>
              </a:rPr>
              <a:t>std</a:t>
            </a:r>
            <a:r>
              <a:rPr lang="en-US" sz="1600" dirty="0">
                <a:latin typeface="Consolas" panose="020B0609020204030204" pitchFamily="49" charset="0"/>
              </a:rPr>
              <a:t>::end(data),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          [] (</a:t>
            </a:r>
            <a:r>
              <a:rPr lang="en-US" sz="1600" dirty="0" err="1">
                <a:latin typeface="Consolas" panose="020B0609020204030204" pitchFamily="49" charset="0"/>
              </a:rPr>
              <a:t>int</a:t>
            </a:r>
            <a:r>
              <a:rPr lang="en-US" sz="1600" dirty="0">
                <a:latin typeface="Consolas" panose="020B0609020204030204" pitchFamily="49" charset="0"/>
              </a:rPr>
              <a:t>&amp; </a:t>
            </a:r>
            <a:r>
              <a:rPr lang="en-US" sz="1600" dirty="0" err="1">
                <a:latin typeface="Consolas" panose="020B06090202040302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</a:rPr>
              <a:t>) { </a:t>
            </a:r>
            <a:r>
              <a:rPr lang="en-US" sz="1600" dirty="0" err="1">
                <a:latin typeface="Consolas" panose="020B06090202040302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</a:rPr>
              <a:t> = </a:t>
            </a:r>
            <a:r>
              <a:rPr lang="en-US" sz="1600" dirty="0" err="1">
                <a:latin typeface="Consolas" panose="020B06090202040302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</a:rPr>
              <a:t>*</a:t>
            </a:r>
            <a:r>
              <a:rPr lang="en-US" sz="1600" dirty="0" err="1">
                <a:latin typeface="Consolas" panose="020B06090202040302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</a:rPr>
              <a:t>; });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tbb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::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parallel_for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(0ul,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data.size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(),</a:t>
            </a:r>
          </a:p>
          <a:p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                      [&amp;data] (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std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::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size_t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i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) { data[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i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] = data[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i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]*data[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i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]; });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</a:rPr>
              <a:t>std</a:t>
            </a:r>
            <a:r>
              <a:rPr lang="en-US" sz="1600" dirty="0">
                <a:latin typeface="Consolas" panose="020B0609020204030204" pitchFamily="49" charset="0"/>
              </a:rPr>
              <a:t>::</a:t>
            </a:r>
            <a:r>
              <a:rPr lang="en-US" sz="1600" dirty="0" err="1">
                <a:latin typeface="Consolas" panose="020B0609020204030204" pitchFamily="49" charset="0"/>
              </a:rPr>
              <a:t>cout</a:t>
            </a:r>
            <a:r>
              <a:rPr lang="en-US" sz="1600" dirty="0">
                <a:latin typeface="Consolas" panose="020B0609020204030204" pitchFamily="49" charset="0"/>
              </a:rPr>
              <a:t> &lt;&lt; </a:t>
            </a:r>
            <a:r>
              <a:rPr lang="en-US" sz="1600" dirty="0" err="1">
                <a:latin typeface="Consolas" panose="020B0609020204030204" pitchFamily="49" charset="0"/>
              </a:rPr>
              <a:t>data.sum</a:t>
            </a:r>
            <a:r>
              <a:rPr lang="en-US" sz="1600" dirty="0">
                <a:latin typeface="Consolas" panose="020B0609020204030204" pitchFamily="49" charset="0"/>
              </a:rPr>
              <a:t>() &lt;&lt; </a:t>
            </a:r>
            <a:r>
              <a:rPr lang="en-US" sz="1600" dirty="0" err="1">
                <a:latin typeface="Consolas" panose="020B0609020204030204" pitchFamily="49" charset="0"/>
              </a:rPr>
              <a:t>std</a:t>
            </a:r>
            <a:r>
              <a:rPr lang="en-US" sz="1600" dirty="0">
                <a:latin typeface="Consolas" panose="020B0609020204030204" pitchFamily="49" charset="0"/>
              </a:rPr>
              <a:t>::</a:t>
            </a:r>
            <a:r>
              <a:rPr lang="en-US" sz="1600" dirty="0" err="1">
                <a:latin typeface="Consolas" panose="020B0609020204030204" pitchFamily="49" charset="0"/>
              </a:rPr>
              <a:t>endl</a:t>
            </a:r>
            <a:r>
              <a:rPr lang="en-US" sz="16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return 0;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53914" y="3927879"/>
            <a:ext cx="2023439" cy="92333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work automatically</a:t>
            </a:r>
            <a:br>
              <a:rPr lang="en-US" dirty="0"/>
            </a:br>
            <a:r>
              <a:rPr lang="en-US" dirty="0"/>
              <a:t>divided over thread</a:t>
            </a:r>
            <a:br>
              <a:rPr lang="en-US" dirty="0"/>
            </a:br>
            <a:r>
              <a:rPr lang="en-US" dirty="0"/>
              <a:t>pool</a:t>
            </a:r>
          </a:p>
        </p:txBody>
      </p:sp>
    </p:spTree>
    <p:extLst>
      <p:ext uri="{BB962C8B-B14F-4D97-AF65-F5344CB8AC3E}">
        <p14:creationId xmlns:p14="http://schemas.microsoft.com/office/powerpoint/2010/main" val="390435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parallel_for</a:t>
            </a:r>
            <a:r>
              <a:rPr lang="en-US" dirty="0"/>
              <a:t>: more control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72FA-F273-424C-AEFD-E3BF6973D60A}" type="slidenum">
              <a:rPr lang="en-US" smtClean="0"/>
              <a:t>17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072949" y="1478243"/>
            <a:ext cx="9946954" cy="35394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…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 err="1">
                <a:latin typeface="Consolas" panose="020B0609020204030204" pitchFamily="49" charset="0"/>
              </a:rPr>
              <a:t>int</a:t>
            </a:r>
            <a:r>
              <a:rPr lang="en-US" sz="1600" dirty="0">
                <a:latin typeface="Consolas" panose="020B0609020204030204" pitchFamily="49" charset="0"/>
              </a:rPr>
              <a:t> main() 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…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</a:rPr>
              <a:t>std</a:t>
            </a:r>
            <a:r>
              <a:rPr lang="en-US" sz="1600" dirty="0">
                <a:latin typeface="Consolas" panose="020B0609020204030204" pitchFamily="49" charset="0"/>
              </a:rPr>
              <a:t>::</a:t>
            </a:r>
            <a:r>
              <a:rPr lang="en-US" sz="1600" dirty="0" err="1">
                <a:latin typeface="Consolas" panose="020B0609020204030204" pitchFamily="49" charset="0"/>
              </a:rPr>
              <a:t>size_t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</a:rPr>
              <a:t>grain_size</a:t>
            </a:r>
            <a:r>
              <a:rPr lang="en-US" sz="1600" dirty="0">
                <a:latin typeface="Consolas" panose="020B0609020204030204" pitchFamily="49" charset="0"/>
              </a:rPr>
              <a:t> {1000};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tbb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::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parallel_for</a:t>
            </a:r>
            <a:r>
              <a:rPr lang="en-US" sz="1600" b="1">
                <a:solidFill>
                  <a:srgbClr val="C00000"/>
                </a:solidFill>
                <a:latin typeface="Consolas" panose="020B0609020204030204" pitchFamily="49" charset="0"/>
              </a:rPr>
              <a:t>(tbb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::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blocked_range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&lt;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std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::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size_t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&gt;(0ul,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data.size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(),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grain_size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),</a:t>
            </a:r>
          </a:p>
          <a:p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                      [&amp;data] (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const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tbb:blocked_range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&lt;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std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::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size_t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&gt;&amp; range) {</a:t>
            </a:r>
          </a:p>
          <a:p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                          for (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std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::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size_t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i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 =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range.begin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();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i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 &lt;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range.end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(); ++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i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                              data[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i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] = data[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i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]*data[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i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]; });</a:t>
            </a:r>
          </a:p>
          <a:p>
            <a:endParaRPr lang="en-US" sz="1600" b="1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   …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return 0;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2067787" y="5532271"/>
            <a:ext cx="6442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045623" y="5249638"/>
            <a:ext cx="6442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321625" y="5262262"/>
            <a:ext cx="647009" cy="2826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08812" y="5249638"/>
            <a:ext cx="647009" cy="2826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9999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33944" y="5257952"/>
            <a:ext cx="647009" cy="2826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12023" y="5257952"/>
            <a:ext cx="647009" cy="2826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999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20142" y="5266572"/>
            <a:ext cx="647009" cy="2826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1999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67151" y="5257951"/>
            <a:ext cx="647009" cy="2826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2000</a:t>
            </a:r>
          </a:p>
        </p:txBody>
      </p:sp>
      <p:cxnSp>
        <p:nvCxnSpPr>
          <p:cNvPr id="36" name="Straight Connector 35"/>
          <p:cNvCxnSpPr/>
          <p:nvPr/>
        </p:nvCxnSpPr>
        <p:spPr>
          <a:xfrm>
            <a:off x="3936767" y="5547665"/>
            <a:ext cx="7931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3914603" y="5265032"/>
            <a:ext cx="7055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5822719" y="5538120"/>
            <a:ext cx="238609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5800555" y="5255487"/>
            <a:ext cx="24082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260308" y="5162939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42107" y="5171252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33035" y="5171252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grpSp>
        <p:nvGrpSpPr>
          <p:cNvPr id="47" name="Group 46"/>
          <p:cNvGrpSpPr/>
          <p:nvPr/>
        </p:nvGrpSpPr>
        <p:grpSpPr>
          <a:xfrm>
            <a:off x="1438796" y="5628015"/>
            <a:ext cx="1920236" cy="788186"/>
            <a:chOff x="1438796" y="5628015"/>
            <a:chExt cx="1920236" cy="788186"/>
          </a:xfrm>
        </p:grpSpPr>
        <p:sp>
          <p:nvSpPr>
            <p:cNvPr id="45" name="Left Brace 44"/>
            <p:cNvSpPr/>
            <p:nvPr/>
          </p:nvSpPr>
          <p:spPr>
            <a:xfrm rot="16200000">
              <a:off x="2301313" y="4765498"/>
              <a:ext cx="195201" cy="1920236"/>
            </a:xfrm>
            <a:prstGeom prst="leftBrac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1833085" y="6046869"/>
              <a:ext cx="11316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first range</a:t>
              </a: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3359032" y="5628015"/>
            <a:ext cx="1920236" cy="728335"/>
            <a:chOff x="1438796" y="5628015"/>
            <a:chExt cx="1920236" cy="728335"/>
          </a:xfrm>
        </p:grpSpPr>
        <p:sp>
          <p:nvSpPr>
            <p:cNvPr id="49" name="Left Brace 48"/>
            <p:cNvSpPr/>
            <p:nvPr/>
          </p:nvSpPr>
          <p:spPr>
            <a:xfrm rot="16200000">
              <a:off x="2301313" y="4765498"/>
              <a:ext cx="195201" cy="1920236"/>
            </a:xfrm>
            <a:prstGeom prst="leftBrac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676337" y="5987018"/>
              <a:ext cx="14344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second range</a:t>
              </a: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6938627" y="5628015"/>
            <a:ext cx="1920236" cy="788186"/>
            <a:chOff x="1438796" y="5628015"/>
            <a:chExt cx="1920236" cy="788186"/>
          </a:xfrm>
        </p:grpSpPr>
        <p:sp>
          <p:nvSpPr>
            <p:cNvPr id="54" name="Left Brace 53"/>
            <p:cNvSpPr/>
            <p:nvPr/>
          </p:nvSpPr>
          <p:spPr>
            <a:xfrm rot="16200000">
              <a:off x="2301313" y="4765498"/>
              <a:ext cx="195201" cy="1920236"/>
            </a:xfrm>
            <a:prstGeom prst="leftBrac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1849711" y="6046869"/>
              <a:ext cx="10955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last range</a:t>
              </a:r>
            </a:p>
          </p:txBody>
        </p:sp>
      </p:grpSp>
      <p:sp>
        <p:nvSpPr>
          <p:cNvPr id="58" name="TextBox 57"/>
          <p:cNvSpPr txBox="1"/>
          <p:nvPr/>
        </p:nvSpPr>
        <p:spPr>
          <a:xfrm>
            <a:off x="9173312" y="4486682"/>
            <a:ext cx="2642440" cy="120032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blocked ranges divided</a:t>
            </a:r>
            <a:br>
              <a:rPr lang="en-US" dirty="0"/>
            </a:br>
            <a:r>
              <a:rPr lang="en-US" dirty="0"/>
              <a:t>over thread pool, rule of thumb: 10,000 cycles per blocked range</a:t>
            </a:r>
          </a:p>
        </p:txBody>
      </p:sp>
    </p:spTree>
    <p:extLst>
      <p:ext uri="{BB962C8B-B14F-4D97-AF65-F5344CB8AC3E}">
        <p14:creationId xmlns:p14="http://schemas.microsoft.com/office/powerpoint/2010/main" val="16415292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parallel_for</a:t>
            </a:r>
            <a:r>
              <a:rPr lang="en-US" dirty="0"/>
              <a:t>: Julia sets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72FA-F273-424C-AEFD-E3BF6973D60A}" type="slidenum">
              <a:rPr lang="en-US" smtClean="0"/>
              <a:t>18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7514" y="593777"/>
            <a:ext cx="2925096" cy="219382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5998" y="1558128"/>
            <a:ext cx="7028831" cy="255454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#include &lt;complex&gt;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…</a:t>
            </a:r>
          </a:p>
          <a:p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const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std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::complex&lt;double&gt; c(-0.62772, - 0.42193);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for (double x = -1.8; x &lt; 1.8; x += 0.001)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    for (double y = -1.8; y &lt; 1.8; y += 0.001) 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        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std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::complex&lt;double&gt; z(x, y);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        while (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std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::abs(z) &lt; 2.0 &amp;&amp; n++ &lt; 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max_n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)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            z = z*z + c;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        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std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::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cout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 &lt;&lt; x &lt;&lt; " " &lt;&lt; y &lt;&lt; " " &lt;&lt; n &lt;&lt; 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std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::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endl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    }</a:t>
            </a:r>
          </a:p>
        </p:txBody>
      </p:sp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32226949"/>
              </p:ext>
            </p:extLst>
          </p:nvPr>
        </p:nvGraphicFramePr>
        <p:xfrm>
          <a:off x="7464828" y="361315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36610608"/>
              </p:ext>
            </p:extLst>
          </p:nvPr>
        </p:nvGraphicFramePr>
        <p:xfrm>
          <a:off x="1664413" y="4112673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874956" y="3173211"/>
            <a:ext cx="2107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16384 </a:t>
            </a:r>
            <a:r>
              <a:rPr lang="en-US" dirty="0">
                <a:sym typeface="Symbol" panose="05050102010706020507" pitchFamily="18" charset="2"/>
              </a:rPr>
              <a:t></a:t>
            </a:r>
            <a:r>
              <a:rPr lang="en-US" dirty="0"/>
              <a:t> 16384 array</a:t>
            </a:r>
          </a:p>
        </p:txBody>
      </p:sp>
    </p:spTree>
    <p:extLst>
      <p:ext uri="{BB962C8B-B14F-4D97-AF65-F5344CB8AC3E}">
        <p14:creationId xmlns:p14="http://schemas.microsoft.com/office/powerpoint/2010/main" val="2218511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  <p:bldGraphic spid="7" grpId="0">
        <p:bldAsOne/>
      </p:bldGraphic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parallel_reduce</a:t>
            </a:r>
            <a:r>
              <a:rPr lang="en-US" dirty="0"/>
              <a:t>: simplest form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72FA-F273-424C-AEFD-E3BF6973D60A}" type="slidenum">
              <a:rPr lang="en-US" smtClean="0"/>
              <a:t>19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458843" y="1478243"/>
            <a:ext cx="8937062" cy="52629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#include &lt;</a:t>
            </a:r>
            <a:r>
              <a:rPr lang="en-US" sz="1600" dirty="0" err="1">
                <a:latin typeface="Consolas" panose="020B0609020204030204" pitchFamily="49" charset="0"/>
              </a:rPr>
              <a:t>iostream</a:t>
            </a:r>
            <a:r>
              <a:rPr lang="en-US" sz="16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#include &lt;numeric&gt;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#include &lt;</a:t>
            </a:r>
            <a:r>
              <a:rPr lang="en-US" sz="1600" dirty="0" err="1">
                <a:latin typeface="Consolas" panose="020B0609020204030204" pitchFamily="49" charset="0"/>
              </a:rPr>
              <a:t>tbb</a:t>
            </a:r>
            <a:r>
              <a:rPr lang="en-US" sz="1600" dirty="0">
                <a:latin typeface="Consolas" panose="020B0609020204030204" pitchFamily="49" charset="0"/>
              </a:rPr>
              <a:t>/</a:t>
            </a:r>
            <a:r>
              <a:rPr lang="en-US" sz="1600" dirty="0" err="1">
                <a:latin typeface="Consolas" panose="020B0609020204030204" pitchFamily="49" charset="0"/>
              </a:rPr>
              <a:t>tbb.h</a:t>
            </a:r>
            <a:r>
              <a:rPr lang="en-US" sz="16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#include &lt;</a:t>
            </a:r>
            <a:r>
              <a:rPr lang="en-US" sz="1600" dirty="0" err="1">
                <a:latin typeface="Consolas" panose="020B0609020204030204" pitchFamily="49" charset="0"/>
              </a:rPr>
              <a:t>valarray</a:t>
            </a:r>
            <a:r>
              <a:rPr lang="en-US" sz="1600" dirty="0">
                <a:latin typeface="Consolas" panose="020B0609020204030204" pitchFamily="49" charset="0"/>
              </a:rPr>
              <a:t>&gt;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 err="1">
                <a:latin typeface="Consolas" panose="020B0609020204030204" pitchFamily="49" charset="0"/>
              </a:rPr>
              <a:t>int</a:t>
            </a:r>
            <a:r>
              <a:rPr lang="en-US" sz="1600" dirty="0">
                <a:latin typeface="Consolas" panose="020B0609020204030204" pitchFamily="49" charset="0"/>
              </a:rPr>
              <a:t> main() 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</a:rPr>
              <a:t>std</a:t>
            </a:r>
            <a:r>
              <a:rPr lang="en-US" sz="1600" dirty="0">
                <a:latin typeface="Consolas" panose="020B0609020204030204" pitchFamily="49" charset="0"/>
              </a:rPr>
              <a:t>::</a:t>
            </a:r>
            <a:r>
              <a:rPr lang="en-US" sz="1600" dirty="0" err="1">
                <a:latin typeface="Consolas" panose="020B0609020204030204" pitchFamily="49" charset="0"/>
              </a:rPr>
              <a:t>size_t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</a:rPr>
              <a:t>grain_size</a:t>
            </a:r>
            <a:r>
              <a:rPr lang="en-US" sz="1600" dirty="0">
                <a:latin typeface="Consolas" panose="020B0609020204030204" pitchFamily="49" charset="0"/>
              </a:rPr>
              <a:t> {1000};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</a:rPr>
              <a:t>std</a:t>
            </a:r>
            <a:r>
              <a:rPr lang="en-US" sz="1600" dirty="0">
                <a:latin typeface="Consolas" panose="020B0609020204030204" pitchFamily="49" charset="0"/>
              </a:rPr>
              <a:t>::</a:t>
            </a:r>
            <a:r>
              <a:rPr lang="en-US" sz="1600" dirty="0" err="1">
                <a:latin typeface="Consolas" panose="020B0609020204030204" pitchFamily="49" charset="0"/>
              </a:rPr>
              <a:t>valarray</a:t>
            </a:r>
            <a:r>
              <a:rPr lang="en-US" sz="1600" dirty="0">
                <a:latin typeface="Consolas" panose="020B0609020204030204" pitchFamily="49" charset="0"/>
              </a:rPr>
              <a:t>&lt;</a:t>
            </a:r>
            <a:r>
              <a:rPr lang="en-US" sz="1600" dirty="0" err="1">
                <a:latin typeface="Consolas" panose="020B0609020204030204" pitchFamily="49" charset="0"/>
              </a:rPr>
              <a:t>int</a:t>
            </a:r>
            <a:r>
              <a:rPr lang="en-US" sz="1600" dirty="0">
                <a:latin typeface="Consolas" panose="020B0609020204030204" pitchFamily="49" charset="0"/>
              </a:rPr>
              <a:t>&gt; data(10000);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</a:rPr>
              <a:t>std</a:t>
            </a:r>
            <a:r>
              <a:rPr lang="en-US" sz="1600" dirty="0">
                <a:latin typeface="Consolas" panose="020B0609020204030204" pitchFamily="49" charset="0"/>
              </a:rPr>
              <a:t>::iota(</a:t>
            </a:r>
            <a:r>
              <a:rPr lang="en-US" sz="1600" dirty="0" err="1">
                <a:latin typeface="Consolas" panose="020B0609020204030204" pitchFamily="49" charset="0"/>
              </a:rPr>
              <a:t>std</a:t>
            </a:r>
            <a:r>
              <a:rPr lang="en-US" sz="1600" dirty="0">
                <a:latin typeface="Consolas" panose="020B0609020204030204" pitchFamily="49" charset="0"/>
              </a:rPr>
              <a:t>::begin(data), </a:t>
            </a:r>
            <a:r>
              <a:rPr lang="en-US" sz="1600" dirty="0" err="1">
                <a:latin typeface="Consolas" panose="020B0609020204030204" pitchFamily="49" charset="0"/>
              </a:rPr>
              <a:t>std</a:t>
            </a:r>
            <a:r>
              <a:rPr lang="en-US" sz="1600" dirty="0">
                <a:latin typeface="Consolas" panose="020B0609020204030204" pitchFamily="49" charset="0"/>
              </a:rPr>
              <a:t>::end(data), 0);</a:t>
            </a:r>
          </a:p>
          <a:p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 sum =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tbb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::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parallel_reduce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tbb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::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blocked_range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&lt;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std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::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size_t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&gt;(0ul,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data.size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(),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grain_size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), 0,</a:t>
            </a:r>
          </a:p>
          <a:p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            [&amp;data] (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const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tbb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::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blocked_range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&lt;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std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::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size_t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&gt;&amp; range,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init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                for (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std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::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size_t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i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 =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range.begin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();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i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 &lt;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range.end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(); ++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i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                   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init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 += data[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i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                return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init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            },</a:t>
            </a:r>
          </a:p>
          <a:p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            [] (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 x,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 y) { return x + y; }</a:t>
            </a:r>
          </a:p>
          <a:p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    );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…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return 0;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7239699" y="2969703"/>
            <a:ext cx="3913702" cy="889233"/>
            <a:chOff x="7239699" y="2969703"/>
            <a:chExt cx="3913702" cy="889233"/>
          </a:xfrm>
        </p:grpSpPr>
        <p:sp>
          <p:nvSpPr>
            <p:cNvPr id="3" name="TextBox 2"/>
            <p:cNvSpPr txBox="1"/>
            <p:nvPr/>
          </p:nvSpPr>
          <p:spPr>
            <a:xfrm>
              <a:off x="8388990" y="2969703"/>
              <a:ext cx="2764411" cy="369332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dirty="0"/>
                <a:t>reduction of </a:t>
              </a:r>
              <a:r>
                <a:rPr lang="en-US" dirty="0" err="1"/>
                <a:t>blocked_range</a:t>
              </a:r>
              <a:endParaRPr lang="en-US" dirty="0"/>
            </a:p>
          </p:txBody>
        </p:sp>
        <p:cxnSp>
          <p:nvCxnSpPr>
            <p:cNvPr id="9" name="Straight Arrow Connector 8"/>
            <p:cNvCxnSpPr>
              <a:stCxn id="3" idx="1"/>
            </p:cNvCxnSpPr>
            <p:nvPr/>
          </p:nvCxnSpPr>
          <p:spPr>
            <a:xfrm flipH="1">
              <a:off x="7239699" y="3154369"/>
              <a:ext cx="1149291" cy="704567"/>
            </a:xfrm>
            <a:prstGeom prst="straightConnector1">
              <a:avLst/>
            </a:prstGeom>
            <a:ln w="19050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/>
          <p:cNvGrpSpPr/>
          <p:nvPr/>
        </p:nvGrpSpPr>
        <p:grpSpPr>
          <a:xfrm>
            <a:off x="7239699" y="5430459"/>
            <a:ext cx="3913701" cy="646331"/>
            <a:chOff x="7239699" y="5430459"/>
            <a:chExt cx="3913701" cy="646331"/>
          </a:xfrm>
        </p:grpSpPr>
        <p:sp>
          <p:nvSpPr>
            <p:cNvPr id="7" name="TextBox 6"/>
            <p:cNvSpPr txBox="1"/>
            <p:nvPr/>
          </p:nvSpPr>
          <p:spPr>
            <a:xfrm>
              <a:off x="8388989" y="5430459"/>
              <a:ext cx="2764411" cy="646331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/>
                <a:t>reduction of </a:t>
              </a:r>
              <a:r>
                <a:rPr lang="en-US" dirty="0" err="1"/>
                <a:t>blocked_range</a:t>
              </a:r>
              <a:r>
                <a:rPr lang="en-US" dirty="0"/>
                <a:t> results</a:t>
              </a:r>
            </a:p>
          </p:txBody>
        </p:sp>
        <p:cxnSp>
          <p:nvCxnSpPr>
            <p:cNvPr id="13" name="Straight Arrow Connector 12"/>
            <p:cNvCxnSpPr>
              <a:stCxn id="7" idx="1"/>
            </p:cNvCxnSpPr>
            <p:nvPr/>
          </p:nvCxnSpPr>
          <p:spPr>
            <a:xfrm flipH="1" flipV="1">
              <a:off x="7239699" y="5623034"/>
              <a:ext cx="1149290" cy="130591"/>
            </a:xfrm>
            <a:prstGeom prst="straightConnector1">
              <a:avLst/>
            </a:prstGeom>
            <a:ln w="19050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77393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parallel_reduce</a:t>
            </a:r>
            <a:r>
              <a:rPr lang="en-US" dirty="0"/>
              <a:t>: class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72FA-F273-424C-AEFD-E3BF6973D60A}" type="slidenum">
              <a:rPr lang="en-US" smtClean="0"/>
              <a:t>20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34717" y="1394353"/>
            <a:ext cx="10395795" cy="52629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class Stats 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private: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Vector* </a:t>
            </a:r>
            <a:r>
              <a:rPr lang="en-US" sz="1600" dirty="0" err="1">
                <a:latin typeface="Consolas" panose="020B0609020204030204" pitchFamily="49" charset="0"/>
              </a:rPr>
              <a:t>const</a:t>
            </a:r>
            <a:r>
              <a:rPr lang="en-US" sz="1600" dirty="0">
                <a:latin typeface="Consolas" panose="020B0609020204030204" pitchFamily="49" charset="0"/>
              </a:rPr>
              <a:t> data_;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latin typeface="Consolas" panose="020B0609020204030204" pitchFamily="49" charset="0"/>
              </a:rPr>
              <a:t>const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</a:rPr>
              <a:t>std</a:t>
            </a:r>
            <a:r>
              <a:rPr lang="en-US" sz="1600" dirty="0">
                <a:latin typeface="Consolas" panose="020B0609020204030204" pitchFamily="49" charset="0"/>
              </a:rPr>
              <a:t>::</a:t>
            </a:r>
            <a:r>
              <a:rPr lang="en-US" sz="1600" dirty="0" err="1">
                <a:latin typeface="Consolas" panose="020B0609020204030204" pitchFamily="49" charset="0"/>
              </a:rPr>
              <a:t>size_t</a:t>
            </a:r>
            <a:r>
              <a:rPr lang="en-US" sz="1600" dirty="0">
                <a:latin typeface="Consolas" panose="020B0609020204030204" pitchFamily="49" charset="0"/>
              </a:rPr>
              <a:t> n_;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double sum_, sum2_;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public: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Stats(Vector* data) : data_ {data}, n_ {data-&gt;size()}, sum_ {0.0}, sum2_ {0.0} {}</a:t>
            </a:r>
          </a:p>
          <a:p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        Stats(Stats&amp; stats,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tbb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::split) : Stats(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stats.data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_) {}</a:t>
            </a:r>
          </a:p>
          <a:p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        void operator()(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const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tbb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::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blocked_range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&lt;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std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::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size_t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&gt;&amp; r) {</a:t>
            </a:r>
          </a:p>
          <a:p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            for (auto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i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 =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r.begin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();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i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 !=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r.end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(); ++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i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                double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val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 = (*data_)[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i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                sum_ +=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val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                sum2_ +=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val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*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val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        void join(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const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 Stats&amp; stats) {</a:t>
            </a:r>
          </a:p>
          <a:p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             sum_ +=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stats.sum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_;</a:t>
            </a:r>
          </a:p>
          <a:p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             sum2_ += stats.sum2_;</a:t>
            </a:r>
          </a:p>
          <a:p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double mean() </a:t>
            </a:r>
            <a:r>
              <a:rPr lang="en-US" sz="1600" dirty="0" err="1">
                <a:latin typeface="Consolas" panose="020B0609020204030204" pitchFamily="49" charset="0"/>
              </a:rPr>
              <a:t>const</a:t>
            </a:r>
            <a:r>
              <a:rPr lang="en-US" sz="1600" dirty="0">
                <a:latin typeface="Consolas" panose="020B0609020204030204" pitchFamily="49" charset="0"/>
              </a:rPr>
              <a:t> { return sum_/n_; }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double </a:t>
            </a:r>
            <a:r>
              <a:rPr lang="en-US" sz="1600" dirty="0" err="1">
                <a:latin typeface="Consolas" panose="020B0609020204030204" pitchFamily="49" charset="0"/>
              </a:rPr>
              <a:t>stddev</a:t>
            </a:r>
            <a:r>
              <a:rPr lang="en-US" sz="1600" dirty="0">
                <a:latin typeface="Consolas" panose="020B0609020204030204" pitchFamily="49" charset="0"/>
              </a:rPr>
              <a:t>() </a:t>
            </a:r>
            <a:r>
              <a:rPr lang="en-US" sz="1600" dirty="0" err="1">
                <a:latin typeface="Consolas" panose="020B0609020204030204" pitchFamily="49" charset="0"/>
              </a:rPr>
              <a:t>const</a:t>
            </a:r>
            <a:r>
              <a:rPr lang="en-US" sz="1600" dirty="0">
                <a:latin typeface="Consolas" panose="020B0609020204030204" pitchFamily="49" charset="0"/>
              </a:rPr>
              <a:t> {…};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96228" y="4058129"/>
            <a:ext cx="4560864" cy="23083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…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Vector data = …; 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Stats stats(&amp;data);</a:t>
            </a:r>
          </a:p>
          <a:p>
            <a:r>
              <a:rPr lang="en-US" sz="1600" dirty="0" err="1">
                <a:latin typeface="Consolas" panose="020B0609020204030204" pitchFamily="49" charset="0"/>
              </a:rPr>
              <a:t>tbb</a:t>
            </a:r>
            <a:r>
              <a:rPr lang="en-US" sz="1600" dirty="0">
                <a:latin typeface="Consolas" panose="020B0609020204030204" pitchFamily="49" charset="0"/>
              </a:rPr>
              <a:t>::</a:t>
            </a:r>
            <a:r>
              <a:rPr lang="en-US" sz="1600" dirty="0" err="1">
                <a:latin typeface="Consolas" panose="020B0609020204030204" pitchFamily="49" charset="0"/>
              </a:rPr>
              <a:t>blocked_range</a:t>
            </a:r>
            <a:r>
              <a:rPr lang="en-US" sz="1600" dirty="0">
                <a:latin typeface="Consolas" panose="020B0609020204030204" pitchFamily="49" charset="0"/>
              </a:rPr>
              <a:t>&lt;</a:t>
            </a:r>
            <a:r>
              <a:rPr lang="en-US" sz="1600" dirty="0" err="1">
                <a:latin typeface="Consolas" panose="020B0609020204030204" pitchFamily="49" charset="0"/>
              </a:rPr>
              <a:t>std</a:t>
            </a:r>
            <a:r>
              <a:rPr lang="en-US" sz="1600" dirty="0">
                <a:latin typeface="Consolas" panose="020B0609020204030204" pitchFamily="49" charset="0"/>
              </a:rPr>
              <a:t>::</a:t>
            </a:r>
            <a:r>
              <a:rPr lang="en-US" sz="1600" dirty="0" err="1">
                <a:latin typeface="Consolas" panose="020B0609020204030204" pitchFamily="49" charset="0"/>
              </a:rPr>
              <a:t>size_t</a:t>
            </a:r>
            <a:r>
              <a:rPr lang="en-US" sz="1600" dirty="0">
                <a:latin typeface="Consolas" panose="020B0609020204030204" pitchFamily="49" charset="0"/>
              </a:rPr>
              <a:t>&gt; ranges(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0ul, </a:t>
            </a:r>
            <a:r>
              <a:rPr lang="en-US" sz="1600" dirty="0" err="1">
                <a:latin typeface="Consolas" panose="020B0609020204030204" pitchFamily="49" charset="0"/>
              </a:rPr>
              <a:t>data.size</a:t>
            </a:r>
            <a:r>
              <a:rPr lang="en-US" sz="1600" dirty="0">
                <a:latin typeface="Consolas" panose="020B0609020204030204" pitchFamily="49" charset="0"/>
              </a:rPr>
              <a:t>(), </a:t>
            </a:r>
            <a:r>
              <a:rPr lang="en-US" sz="1600" dirty="0" err="1">
                <a:latin typeface="Consolas" panose="020B0609020204030204" pitchFamily="49" charset="0"/>
              </a:rPr>
              <a:t>grain_size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 err="1">
                <a:latin typeface="Consolas" panose="020B0609020204030204" pitchFamily="49" charset="0"/>
              </a:rPr>
              <a:t>tbb</a:t>
            </a:r>
            <a:r>
              <a:rPr lang="en-US" sz="1600" dirty="0">
                <a:latin typeface="Consolas" panose="020B0609020204030204" pitchFamily="49" charset="0"/>
              </a:rPr>
              <a:t>::</a:t>
            </a:r>
            <a:r>
              <a:rPr lang="en-US" sz="1600" dirty="0" err="1">
                <a:latin typeface="Consolas" panose="020B0609020204030204" pitchFamily="49" charset="0"/>
              </a:rPr>
              <a:t>parallel_reduce</a:t>
            </a:r>
            <a:r>
              <a:rPr lang="en-US" sz="1600" dirty="0">
                <a:latin typeface="Consolas" panose="020B0609020204030204" pitchFamily="49" charset="0"/>
              </a:rPr>
              <a:t>(ranges, stats);</a:t>
            </a:r>
          </a:p>
          <a:p>
            <a:r>
              <a:rPr lang="en-US" sz="1600" dirty="0" err="1">
                <a:latin typeface="Consolas" panose="020B0609020204030204" pitchFamily="49" charset="0"/>
              </a:rPr>
              <a:t>std</a:t>
            </a:r>
            <a:r>
              <a:rPr lang="en-US" sz="1600" dirty="0">
                <a:latin typeface="Consolas" panose="020B0609020204030204" pitchFamily="49" charset="0"/>
              </a:rPr>
              <a:t>::</a:t>
            </a:r>
            <a:r>
              <a:rPr lang="en-US" sz="1600" dirty="0" err="1">
                <a:latin typeface="Consolas" panose="020B0609020204030204" pitchFamily="49" charset="0"/>
              </a:rPr>
              <a:t>cout</a:t>
            </a:r>
            <a:r>
              <a:rPr lang="en-US" sz="1600" dirty="0">
                <a:latin typeface="Consolas" panose="020B0609020204030204" pitchFamily="49" charset="0"/>
              </a:rPr>
              <a:t> &lt;&lt; </a:t>
            </a:r>
            <a:r>
              <a:rPr lang="en-US" sz="1600" dirty="0" err="1">
                <a:latin typeface="Consolas" panose="020B0609020204030204" pitchFamily="49" charset="0"/>
              </a:rPr>
              <a:t>stats.mean</a:t>
            </a:r>
            <a:r>
              <a:rPr lang="en-US" sz="160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299370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parallel_do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processing class</a:t>
            </a:r>
          </a:p>
          <a:p>
            <a:pPr lvl="1"/>
            <a:r>
              <a:rPr lang="en-US" dirty="0"/>
              <a:t>overloads </a:t>
            </a:r>
            <a:r>
              <a:rPr lang="en-US" dirty="0">
                <a:latin typeface="Consolas" panose="020B0609020204030204" pitchFamily="49" charset="0"/>
              </a:rPr>
              <a:t>operator()</a:t>
            </a:r>
            <a:r>
              <a:rPr lang="en-US" dirty="0"/>
              <a:t> to process single item</a:t>
            </a:r>
          </a:p>
          <a:p>
            <a:pPr lvl="1"/>
            <a:r>
              <a:rPr lang="en-US" dirty="0"/>
              <a:t>optionally add new items to process (using </a:t>
            </a:r>
            <a:r>
              <a:rPr lang="en-US" dirty="0" err="1">
                <a:latin typeface="Consolas" panose="020B0609020204030204" pitchFamily="49" charset="0"/>
              </a:rPr>
              <a:t>tbb</a:t>
            </a:r>
            <a:r>
              <a:rPr lang="en-US" dirty="0">
                <a:latin typeface="Consolas" panose="020B0609020204030204" pitchFamily="49" charset="0"/>
              </a:rPr>
              <a:t>::</a:t>
            </a:r>
            <a:r>
              <a:rPr lang="en-US" dirty="0" err="1">
                <a:latin typeface="Consolas" panose="020B0609020204030204" pitchFamily="49" charset="0"/>
              </a:rPr>
              <a:t>parallel_do_feeder</a:t>
            </a:r>
            <a:r>
              <a:rPr lang="en-US" dirty="0"/>
              <a:t>)</a:t>
            </a:r>
          </a:p>
          <a:p>
            <a:r>
              <a:rPr lang="en-US" dirty="0"/>
              <a:t>Create STL </a:t>
            </a:r>
            <a:r>
              <a:rPr lang="en-US" dirty="0" err="1"/>
              <a:t>std</a:t>
            </a:r>
            <a:r>
              <a:rPr lang="en-US" dirty="0"/>
              <a:t>::vector with initial items</a:t>
            </a:r>
          </a:p>
          <a:p>
            <a:r>
              <a:rPr lang="en-US" dirty="0"/>
              <a:t>Call </a:t>
            </a:r>
            <a:r>
              <a:rPr lang="en-US" dirty="0" err="1">
                <a:latin typeface="Consolas" panose="020B0609020204030204" pitchFamily="49" charset="0"/>
              </a:rPr>
              <a:t>tbb</a:t>
            </a:r>
            <a:r>
              <a:rPr lang="en-US" dirty="0">
                <a:latin typeface="Consolas" panose="020B0609020204030204" pitchFamily="49" charset="0"/>
              </a:rPr>
              <a:t>::</a:t>
            </a:r>
            <a:r>
              <a:rPr lang="en-US" dirty="0" err="1">
                <a:latin typeface="Consolas" panose="020B0609020204030204" pitchFamily="49" charset="0"/>
              </a:rPr>
              <a:t>parallel_do</a:t>
            </a:r>
            <a:r>
              <a:rPr lang="en-US" dirty="0"/>
              <a:t> with</a:t>
            </a:r>
          </a:p>
          <a:p>
            <a:pPr lvl="1"/>
            <a:r>
              <a:rPr lang="en-US" dirty="0"/>
              <a:t>begin of iterator for initial items to process</a:t>
            </a:r>
          </a:p>
          <a:p>
            <a:pPr lvl="1"/>
            <a:r>
              <a:rPr lang="en-US" dirty="0"/>
              <a:t>end of iterator for items to process</a:t>
            </a:r>
          </a:p>
          <a:p>
            <a:pPr lvl="1"/>
            <a:r>
              <a:rPr lang="en-US" dirty="0"/>
              <a:t>processing class instance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72FA-F273-424C-AEFD-E3BF6973D60A}" type="slidenum">
              <a:rPr lang="en-US" smtClean="0"/>
              <a:t>21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993476" y="5139081"/>
            <a:ext cx="5601533" cy="83099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/>
              <a:t>Note: items in the vector </a:t>
            </a:r>
            <a:r>
              <a:rPr lang="en-US" sz="2400" i="1" dirty="0"/>
              <a:t>can</a:t>
            </a:r>
            <a:r>
              <a:rPr lang="en-US" sz="2400" dirty="0"/>
              <a:t> be computed,</a:t>
            </a:r>
            <a:br>
              <a:rPr lang="en-US" sz="2400" dirty="0"/>
            </a:br>
            <a:r>
              <a:rPr lang="en-US" sz="2400" dirty="0"/>
              <a:t>           </a:t>
            </a:r>
            <a:r>
              <a:rPr lang="en-US" sz="2400" i="1" dirty="0"/>
              <a:t>no</a:t>
            </a:r>
            <a:r>
              <a:rPr lang="en-US" sz="2400" dirty="0"/>
              <a:t> dependencies on other items</a:t>
            </a:r>
          </a:p>
        </p:txBody>
      </p:sp>
    </p:spTree>
    <p:extLst>
      <p:ext uri="{BB962C8B-B14F-4D97-AF65-F5344CB8AC3E}">
        <p14:creationId xmlns:p14="http://schemas.microsoft.com/office/powerpoint/2010/main" val="1340714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 pipeline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72FA-F273-424C-AEFD-E3BF6973D60A}" type="slidenum">
              <a:rPr lang="en-US" smtClean="0"/>
              <a:t>22</a:t>
            </a:fld>
            <a:endParaRPr lang="en-US"/>
          </a:p>
        </p:txBody>
      </p:sp>
      <p:pic>
        <p:nvPicPr>
          <p:cNvPr id="1026" name="Picture 2" descr="Image result for gpu volt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205373"/>
            <a:ext cx="2486434" cy="2486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intel cpu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3198" y="3795455"/>
            <a:ext cx="1712037" cy="1019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313164" y="3095664"/>
            <a:ext cx="65274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CPU</a:t>
            </a:r>
            <a:r>
              <a:rPr lang="en-US" baseline="-25000" dirty="0"/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65907" y="3095664"/>
            <a:ext cx="67518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GPU</a:t>
            </a:r>
            <a:r>
              <a:rPr lang="en-US" baseline="-25000" dirty="0"/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85236" y="3101203"/>
            <a:ext cx="65274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CPU</a:t>
            </a:r>
            <a:r>
              <a:rPr lang="en-US" baseline="-25000" dirty="0"/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57308" y="3095664"/>
            <a:ext cx="65274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CPU</a:t>
            </a:r>
            <a:r>
              <a:rPr lang="en-US" baseline="-25000" dirty="0"/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10051" y="3095664"/>
            <a:ext cx="67518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GPU</a:t>
            </a:r>
            <a:r>
              <a:rPr lang="en-US" baseline="-25000" dirty="0"/>
              <a:t>2</a:t>
            </a:r>
          </a:p>
        </p:txBody>
      </p:sp>
      <p:cxnSp>
        <p:nvCxnSpPr>
          <p:cNvPr id="7" name="Straight Connector 6"/>
          <p:cNvCxnSpPr/>
          <p:nvPr/>
        </p:nvCxnSpPr>
        <p:spPr>
          <a:xfrm flipH="1">
            <a:off x="1075530" y="3095664"/>
            <a:ext cx="58177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>
            <a:off x="1075530" y="3464996"/>
            <a:ext cx="58177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0" name="Picture 6" descr="Image result for hourglas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6142" y="4386510"/>
            <a:ext cx="857352" cy="857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6" descr="Image result for hourglas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6046" y="2224519"/>
            <a:ext cx="857352" cy="857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8099347" y="4306897"/>
            <a:ext cx="700036" cy="10335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6" descr="Image result for hourglas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4395019"/>
            <a:ext cx="857352" cy="857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Rectangle 31"/>
          <p:cNvSpPr/>
          <p:nvPr/>
        </p:nvSpPr>
        <p:spPr>
          <a:xfrm>
            <a:off x="8415390" y="2216172"/>
            <a:ext cx="700036" cy="10335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6154426" y="2363637"/>
            <a:ext cx="675185" cy="369332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GPU</a:t>
            </a:r>
            <a:r>
              <a:rPr lang="en-US" baseline="-25000" dirty="0"/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7979" y="3101203"/>
            <a:ext cx="67518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GPU</a:t>
            </a:r>
            <a:r>
              <a:rPr lang="en-US" baseline="-25000" dirty="0"/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2368" y="4210353"/>
            <a:ext cx="652743" cy="369332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CPU</a:t>
            </a:r>
            <a:r>
              <a:rPr lang="en-US" baseline="-25000" dirty="0"/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745" y="4711228"/>
            <a:ext cx="3099950" cy="83099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Both GPU and CPU are</a:t>
            </a:r>
            <a:br>
              <a:rPr lang="en-US" sz="2400" dirty="0"/>
            </a:br>
            <a:r>
              <a:rPr lang="en-US" sz="2400" dirty="0"/>
              <a:t>idle half of the time</a:t>
            </a:r>
          </a:p>
        </p:txBody>
      </p:sp>
    </p:spTree>
    <p:extLst>
      <p:ext uri="{BB962C8B-B14F-4D97-AF65-F5344CB8AC3E}">
        <p14:creationId xmlns:p14="http://schemas.microsoft.com/office/powerpoint/2010/main" val="1626196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7.40741E-7 L 0.09687 -0.1071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844" y="-5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7.40741E-7 L 0.19427 0.16157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714" y="8079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3.33333E-6 L 0.21719 -0.12917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59" y="-645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4" grpId="0" animBg="1"/>
      <p:bldP spid="32" grpId="0" animBg="1"/>
      <p:bldP spid="33" grpId="0" animBg="1"/>
      <p:bldP spid="10" grpId="0" animBg="1"/>
      <p:bldP spid="34" grpId="0" animBg="1"/>
      <p:bldP spid="1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72FA-F273-424C-AEFD-E3BF6973D60A}" type="slidenum">
              <a:rPr lang="en-US" smtClean="0"/>
              <a:t>23</a:t>
            </a:fld>
            <a:endParaRPr lang="en-US"/>
          </a:p>
        </p:txBody>
      </p:sp>
      <p:pic>
        <p:nvPicPr>
          <p:cNvPr id="1026" name="Picture 2" descr="Image result for gpu volt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205373"/>
            <a:ext cx="2486434" cy="2486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intel cpu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3198" y="3795455"/>
            <a:ext cx="1712037" cy="1019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313164" y="3610789"/>
            <a:ext cx="65274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CPU</a:t>
            </a:r>
            <a:r>
              <a:rPr lang="en-US" baseline="-25000" dirty="0"/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65907" y="3095664"/>
            <a:ext cx="67518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GPU</a:t>
            </a:r>
            <a:r>
              <a:rPr lang="en-US" baseline="-25000" dirty="0"/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60421" y="3607542"/>
            <a:ext cx="65274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CPU</a:t>
            </a:r>
            <a:r>
              <a:rPr lang="en-US" baseline="-25000" dirty="0"/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07678" y="3604295"/>
            <a:ext cx="65274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CPU</a:t>
            </a:r>
            <a:r>
              <a:rPr lang="en-US" baseline="-25000" dirty="0"/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6193" y="3095664"/>
            <a:ext cx="67518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GPU</a:t>
            </a:r>
            <a:r>
              <a:rPr lang="en-US" baseline="-25000" dirty="0"/>
              <a:t>2</a:t>
            </a:r>
          </a:p>
        </p:txBody>
      </p:sp>
      <p:cxnSp>
        <p:nvCxnSpPr>
          <p:cNvPr id="7" name="Straight Connector 6"/>
          <p:cNvCxnSpPr/>
          <p:nvPr/>
        </p:nvCxnSpPr>
        <p:spPr>
          <a:xfrm flipH="1">
            <a:off x="3007678" y="3092417"/>
            <a:ext cx="58177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>
            <a:off x="3007678" y="3461749"/>
            <a:ext cx="58177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0" name="Picture 6" descr="Image result for hourglas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6142" y="4386510"/>
            <a:ext cx="857352" cy="857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8099347" y="4306897"/>
            <a:ext cx="700036" cy="10335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6154426" y="2363637"/>
            <a:ext cx="675185" cy="369332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GPU</a:t>
            </a:r>
            <a:r>
              <a:rPr lang="en-US" baseline="-25000" dirty="0"/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86050" y="3092417"/>
            <a:ext cx="67518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GPU</a:t>
            </a:r>
            <a:r>
              <a:rPr lang="en-US" baseline="-25000" dirty="0"/>
              <a:t>1</a:t>
            </a:r>
          </a:p>
        </p:txBody>
      </p:sp>
      <p:cxnSp>
        <p:nvCxnSpPr>
          <p:cNvPr id="22" name="Straight Connector 21"/>
          <p:cNvCxnSpPr/>
          <p:nvPr/>
        </p:nvCxnSpPr>
        <p:spPr>
          <a:xfrm flipH="1">
            <a:off x="2514745" y="3604295"/>
            <a:ext cx="58177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2514745" y="3973627"/>
            <a:ext cx="58177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226357" y="4740327"/>
            <a:ext cx="4077142" cy="120032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/>
              <a:t>Pipeline start-up</a:t>
            </a:r>
            <a:br>
              <a:rPr lang="en-US" sz="2400" dirty="0"/>
            </a:br>
            <a:r>
              <a:rPr lang="en-US" sz="2400" dirty="0"/>
              <a:t>         </a:t>
            </a:r>
            <a:r>
              <a:rPr lang="en-US" sz="2400" dirty="0">
                <a:sym typeface="Symbol" panose="05050102010706020507" pitchFamily="18" charset="2"/>
              </a:rPr>
              <a:t></a:t>
            </a:r>
            <a:r>
              <a:rPr lang="en-US" sz="2400" dirty="0"/>
              <a:t> pipeline full</a:t>
            </a:r>
            <a:br>
              <a:rPr lang="en-US" sz="2400" dirty="0"/>
            </a:br>
            <a:r>
              <a:rPr lang="en-US" sz="2400" dirty="0"/>
              <a:t>               </a:t>
            </a:r>
            <a:r>
              <a:rPr lang="en-US" sz="2400" dirty="0">
                <a:sym typeface="Symbol" panose="05050102010706020507" pitchFamily="18" charset="2"/>
              </a:rPr>
              <a:t></a:t>
            </a:r>
            <a:r>
              <a:rPr lang="en-US" sz="2400" dirty="0"/>
              <a:t> pipeline wind-down</a:t>
            </a:r>
          </a:p>
        </p:txBody>
      </p:sp>
    </p:spTree>
    <p:extLst>
      <p:ext uri="{BB962C8B-B14F-4D97-AF65-F5344CB8AC3E}">
        <p14:creationId xmlns:p14="http://schemas.microsoft.com/office/powerpoint/2010/main" val="1435985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7.40741E-7 L 0.09687 -0.1071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844" y="-5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2.22222E-6 L 0.19427 0.16158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714" y="8079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22222E-6 L 0.21718 -0.12917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59" y="-645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4" grpId="0" animBg="1"/>
      <p:bldP spid="33" grpId="0" animBg="1"/>
      <p:bldP spid="10" grpId="0" animBg="1"/>
      <p:bldP spid="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TBB tasks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72FA-F273-424C-AEFD-E3BF6973D60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612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spawning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72FA-F273-424C-AEFD-E3BF6973D60A}" type="slidenum">
              <a:rPr lang="en-US" smtClean="0"/>
              <a:t>25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34717" y="1286284"/>
            <a:ext cx="9610323" cy="55092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class </a:t>
            </a:r>
            <a:r>
              <a:rPr lang="en-US" sz="1600" dirty="0" err="1">
                <a:latin typeface="Consolas" panose="020B0609020204030204" pitchFamily="49" charset="0"/>
              </a:rPr>
              <a:t>FibTask</a:t>
            </a:r>
            <a:r>
              <a:rPr lang="en-US" sz="1600" dirty="0">
                <a:latin typeface="Consolas" panose="020B0609020204030204" pitchFamily="49" charset="0"/>
              </a:rPr>
              <a:t> : 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public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tbb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::task</a:t>
            </a:r>
            <a:r>
              <a:rPr lang="en-US" sz="1600" dirty="0">
                <a:latin typeface="Consolas" panose="020B0609020204030204" pitchFamily="49" charset="0"/>
              </a:rPr>
              <a:t> 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private: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long n_;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long* result_;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public: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latin typeface="Consolas" panose="020B0609020204030204" pitchFamily="49" charset="0"/>
              </a:rPr>
              <a:t>FibTask</a:t>
            </a:r>
            <a:r>
              <a:rPr lang="en-US" sz="1600" dirty="0">
                <a:latin typeface="Consolas" panose="020B0609020204030204" pitchFamily="49" charset="0"/>
              </a:rPr>
              <a:t>(long n, long* result) : n_ {n}, result_ {result} {}</a:t>
            </a:r>
          </a:p>
          <a:p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tbb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::task* execute() 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    if (n_ &lt; 2) 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        *result_ = 1;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    } else 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        long result_n_1;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        long result_n_2;</a:t>
            </a:r>
          </a:p>
          <a:p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tbb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::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task_list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 list;</a:t>
            </a:r>
          </a:p>
          <a:p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list.push_back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(*new(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allocate_child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())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FibTask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(n_ - 1, &amp;result_n_1));</a:t>
            </a:r>
          </a:p>
          <a:p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list.push_back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(*new(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allocate_child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())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FibTask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(n_ - 2, &amp;result_n_2));</a:t>
            </a:r>
          </a:p>
          <a:p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set_ref_count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(3);</a:t>
            </a:r>
          </a:p>
          <a:p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spawn_and_wait_for_all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(list);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        *result_ = result_n_1 + result_n_2;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    }</a:t>
            </a:r>
          </a:p>
          <a:p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            return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nullptr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77966" y="1408052"/>
            <a:ext cx="7366119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…</a:t>
            </a:r>
          </a:p>
          <a:p>
            <a:r>
              <a:rPr lang="en-GB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auto task = new(</a:t>
            </a:r>
            <a:r>
              <a:rPr lang="en-GB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tbb</a:t>
            </a:r>
            <a:r>
              <a:rPr lang="en-GB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::task::</a:t>
            </a:r>
            <a:r>
              <a:rPr lang="en-GB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allocate_root</a:t>
            </a:r>
            <a:r>
              <a:rPr lang="en-GB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()) </a:t>
            </a:r>
            <a:r>
              <a:rPr lang="en-GB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FibTask</a:t>
            </a:r>
            <a:r>
              <a:rPr lang="en-GB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(n, &amp;result);</a:t>
            </a:r>
          </a:p>
          <a:p>
            <a:r>
              <a:rPr lang="en-GB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tbb</a:t>
            </a:r>
            <a:r>
              <a:rPr lang="en-GB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::task::</a:t>
            </a:r>
            <a:r>
              <a:rPr lang="en-GB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spawn_root_and_wait</a:t>
            </a:r>
            <a:r>
              <a:rPr lang="en-GB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(*task);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31343" y="5486400"/>
            <a:ext cx="2638799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However, task granularity!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7036723" y="346532"/>
            <a:ext cx="3277564" cy="695248"/>
            <a:chOff x="7036723" y="346532"/>
            <a:chExt cx="3277564" cy="69524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/>
                <p:cNvSpPr txBox="1"/>
                <p:nvPr/>
              </p:nvSpPr>
              <p:spPr>
                <a:xfrm>
                  <a:off x="7036723" y="346532"/>
                  <a:ext cx="327756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fib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fib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fib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−2)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36723" y="346532"/>
                  <a:ext cx="3277564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372" t="-2222" r="-1115" b="-3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/>
                <p:cNvSpPr txBox="1"/>
                <p:nvPr/>
              </p:nvSpPr>
              <p:spPr>
                <a:xfrm>
                  <a:off x="7058288" y="764781"/>
                  <a:ext cx="194610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fib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fib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58288" y="764781"/>
                  <a:ext cx="1946109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2508" r="-2194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293607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spawning: granularity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72FA-F273-424C-AEFD-E3BF6973D60A}" type="slidenum">
              <a:rPr lang="en-US" smtClean="0"/>
              <a:t>26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33727" y="1951306"/>
            <a:ext cx="7702750" cy="35394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class </a:t>
            </a:r>
            <a:r>
              <a:rPr lang="en-US" sz="1600" dirty="0" err="1">
                <a:latin typeface="Consolas" panose="020B0609020204030204" pitchFamily="49" charset="0"/>
              </a:rPr>
              <a:t>FibTask</a:t>
            </a:r>
            <a:r>
              <a:rPr lang="en-US" sz="1600" dirty="0">
                <a:latin typeface="Consolas" panose="020B0609020204030204" pitchFamily="49" charset="0"/>
              </a:rPr>
              <a:t> : 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public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tbb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::task</a:t>
            </a:r>
            <a:r>
              <a:rPr lang="en-US" sz="1600" dirty="0">
                <a:latin typeface="Consolas" panose="020B0609020204030204" pitchFamily="49" charset="0"/>
              </a:rPr>
              <a:t> 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private: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long n_;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long* result_;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public: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latin typeface="Consolas" panose="020B0609020204030204" pitchFamily="49" charset="0"/>
              </a:rPr>
              <a:t>FibTask</a:t>
            </a:r>
            <a:r>
              <a:rPr lang="en-US" sz="1600" dirty="0">
                <a:latin typeface="Consolas" panose="020B0609020204030204" pitchFamily="49" charset="0"/>
              </a:rPr>
              <a:t>(long n, long* result) : n_ {n}, result_ {result} {}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</a:t>
            </a:r>
            <a:r>
              <a:rPr lang="en-US" sz="1600" dirty="0" err="1">
                <a:latin typeface="Consolas" panose="020B0609020204030204" pitchFamily="49" charset="0"/>
              </a:rPr>
              <a:t>tbb</a:t>
            </a:r>
            <a:r>
              <a:rPr lang="en-US" sz="1600" dirty="0">
                <a:latin typeface="Consolas" panose="020B0609020204030204" pitchFamily="49" charset="0"/>
              </a:rPr>
              <a:t>::task* execute() 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    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if (n_ &lt; 10) {</a:t>
            </a:r>
          </a:p>
          <a:p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                *result_ =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sequential_fib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(n_);</a:t>
            </a:r>
          </a:p>
          <a:p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            } else 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        …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    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5195637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spawning: timings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72FA-F273-424C-AEFD-E3BF6973D60A}" type="slidenum">
              <a:rPr lang="en-US" smtClean="0"/>
              <a:t>27</a:t>
            </a:fld>
            <a:endParaRPr lang="en-US"/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52093481"/>
              </p:ext>
            </p:extLst>
          </p:nvPr>
        </p:nvGraphicFramePr>
        <p:xfrm>
          <a:off x="838200" y="1690688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18627481"/>
              </p:ext>
            </p:extLst>
          </p:nvPr>
        </p:nvGraphicFramePr>
        <p:xfrm>
          <a:off x="6553200" y="860367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55061959"/>
              </p:ext>
            </p:extLst>
          </p:nvPr>
        </p:nvGraphicFramePr>
        <p:xfrm>
          <a:off x="5746866" y="3795712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845425" y="5353396"/>
            <a:ext cx="758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n</a:t>
            </a:r>
            <a:r>
              <a:rPr lang="en-US" dirty="0"/>
              <a:t> = 50</a:t>
            </a:r>
          </a:p>
        </p:txBody>
      </p:sp>
    </p:spTree>
    <p:extLst>
      <p:ext uri="{BB962C8B-B14F-4D97-AF65-F5344CB8AC3E}">
        <p14:creationId xmlns:p14="http://schemas.microsoft.com/office/powerpoint/2010/main" val="3999779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Graphic spid="7" grpId="0">
        <p:bldAsOne/>
      </p:bldGraphic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traversal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72FA-F273-424C-AEFD-E3BF6973D60A}" type="slidenum">
              <a:rPr lang="en-US" smtClean="0"/>
              <a:t>28</a:t>
            </a:fld>
            <a:endParaRPr lang="en-US"/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67304137"/>
              </p:ext>
            </p:extLst>
          </p:nvPr>
        </p:nvGraphicFramePr>
        <p:xfrm>
          <a:off x="838200" y="183295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29978060"/>
              </p:ext>
            </p:extLst>
          </p:nvPr>
        </p:nvGraphicFramePr>
        <p:xfrm>
          <a:off x="6324600" y="752302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28565"/>
              </p:ext>
            </p:extLst>
          </p:nvPr>
        </p:nvGraphicFramePr>
        <p:xfrm>
          <a:off x="5738552" y="3795712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88720" y="5892581"/>
            <a:ext cx="2319418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dual Intel Xeon </a:t>
            </a:r>
            <a:r>
              <a:rPr lang="en-US" dirty="0" err="1"/>
              <a:t>skylake</a:t>
            </a:r>
            <a:endParaRPr lang="en-US" dirty="0"/>
          </a:p>
          <a:p>
            <a:r>
              <a:rPr lang="en-US" dirty="0"/>
              <a:t>2 </a:t>
            </a:r>
            <a:r>
              <a:rPr lang="en-US" dirty="0">
                <a:sym typeface="Symbol" panose="05050102010706020507" pitchFamily="18" charset="2"/>
              </a:rPr>
              <a:t></a:t>
            </a:r>
            <a:r>
              <a:rPr lang="en-US" dirty="0"/>
              <a:t> 18 cores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44931" y="4805048"/>
            <a:ext cx="1859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54,899,183 nodes</a:t>
            </a:r>
          </a:p>
        </p:txBody>
      </p:sp>
    </p:spTree>
    <p:extLst>
      <p:ext uri="{BB962C8B-B14F-4D97-AF65-F5344CB8AC3E}">
        <p14:creationId xmlns:p14="http://schemas.microsoft.com/office/powerpoint/2010/main" val="2675527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Graphic spid="6" grpId="0">
        <p:bldAsOne/>
      </p:bldGraphic>
      <p:bldP spid="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graphs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72FA-F273-424C-AEFD-E3BF6973D60A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087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TBB scheduler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72FA-F273-424C-AEFD-E3BF6973D60A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3303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TBB task scheduler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thread pool</a:t>
            </a:r>
          </a:p>
          <a:p>
            <a:r>
              <a:rPr lang="en-US" dirty="0"/>
              <a:t>task queue</a:t>
            </a:r>
          </a:p>
          <a:p>
            <a:r>
              <a:rPr lang="en-US" dirty="0"/>
              <a:t>when thread is done, it steals work</a:t>
            </a:r>
          </a:p>
          <a:p>
            <a:endParaRPr lang="en-US" dirty="0"/>
          </a:p>
          <a:p>
            <a:r>
              <a:rPr lang="en-US" dirty="0"/>
              <a:t>Load balancing: thread on busy core</a:t>
            </a:r>
            <a:br>
              <a:rPr lang="en-US" dirty="0"/>
            </a:br>
            <a:r>
              <a:rPr lang="en-US" dirty="0"/>
              <a:t>will poll less often for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72FA-F273-424C-AEFD-E3BF6973D60A}" type="slidenum">
              <a:rPr lang="en-US" smtClean="0"/>
              <a:t>31</a:t>
            </a:fld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9157426" y="2629324"/>
            <a:ext cx="407323" cy="407323"/>
            <a:chOff x="9276311" y="2518757"/>
            <a:chExt cx="407323" cy="407323"/>
          </a:xfrm>
        </p:grpSpPr>
        <p:sp>
          <p:nvSpPr>
            <p:cNvPr id="6" name="Oval 5"/>
            <p:cNvSpPr/>
            <p:nvPr/>
          </p:nvSpPr>
          <p:spPr>
            <a:xfrm>
              <a:off x="9276311" y="2518757"/>
              <a:ext cx="407323" cy="40732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330732" y="2537752"/>
              <a:ext cx="2984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t</a:t>
              </a:r>
              <a:r>
                <a:rPr lang="en-US" baseline="-25000" dirty="0" err="1"/>
                <a:t>j</a:t>
              </a:r>
              <a:endParaRPr lang="en-US" baseline="-25000" dirty="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7082528" y="2610329"/>
            <a:ext cx="407323" cy="407323"/>
            <a:chOff x="7799417" y="2671157"/>
            <a:chExt cx="407323" cy="407323"/>
          </a:xfrm>
        </p:grpSpPr>
        <p:sp>
          <p:nvSpPr>
            <p:cNvPr id="9" name="Oval 8"/>
            <p:cNvSpPr/>
            <p:nvPr/>
          </p:nvSpPr>
          <p:spPr>
            <a:xfrm>
              <a:off x="7799417" y="2671157"/>
              <a:ext cx="407323" cy="40732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853838" y="2690152"/>
              <a:ext cx="2968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t</a:t>
              </a:r>
              <a:r>
                <a:rPr lang="en-US" baseline="-25000" dirty="0" err="1"/>
                <a:t>i</a:t>
              </a:r>
              <a:endParaRPr lang="en-US" baseline="-25000" dirty="0"/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6928743" y="3641378"/>
            <a:ext cx="612371" cy="282634"/>
            <a:chOff x="6928743" y="3641378"/>
            <a:chExt cx="612371" cy="282634"/>
          </a:xfrm>
        </p:grpSpPr>
        <p:sp>
          <p:nvSpPr>
            <p:cNvPr id="14" name="Rectangle 13"/>
            <p:cNvSpPr/>
            <p:nvPr/>
          </p:nvSpPr>
          <p:spPr>
            <a:xfrm>
              <a:off x="6928743" y="3641379"/>
              <a:ext cx="307571" cy="2826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233543" y="3641378"/>
              <a:ext cx="307571" cy="2826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7538343" y="3641378"/>
            <a:ext cx="612371" cy="282633"/>
            <a:chOff x="7538343" y="3641378"/>
            <a:chExt cx="612371" cy="282633"/>
          </a:xfrm>
        </p:grpSpPr>
        <p:sp>
          <p:nvSpPr>
            <p:cNvPr id="16" name="Rectangle 15"/>
            <p:cNvSpPr/>
            <p:nvPr/>
          </p:nvSpPr>
          <p:spPr>
            <a:xfrm>
              <a:off x="7538343" y="3641378"/>
              <a:ext cx="307571" cy="2826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843143" y="3641378"/>
              <a:ext cx="307571" cy="2826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</p:grpSp>
      <p:cxnSp>
        <p:nvCxnSpPr>
          <p:cNvPr id="25" name="Straight Arrow Connector 24"/>
          <p:cNvCxnSpPr>
            <a:stCxn id="10" idx="2"/>
            <a:endCxn id="14" idx="0"/>
          </p:cNvCxnSpPr>
          <p:nvPr/>
        </p:nvCxnSpPr>
        <p:spPr>
          <a:xfrm flipH="1">
            <a:off x="7082529" y="2998656"/>
            <a:ext cx="202858" cy="642723"/>
          </a:xfrm>
          <a:prstGeom prst="straightConnector1">
            <a:avLst/>
          </a:prstGeom>
          <a:ln w="28575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>
            <a:off x="9134163" y="3034407"/>
            <a:ext cx="226924" cy="642858"/>
          </a:xfrm>
          <a:prstGeom prst="straightConnector1">
            <a:avLst/>
          </a:prstGeom>
          <a:ln w="28575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2194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7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4.07407E-6 L 0.03138 0.04584 C 0.03789 0.05625 0.04766 0.06204 0.05794 0.06204 C 0.06966 0.06204 0.07904 0.05625 0.08555 0.04584 L 0.11706 -4.07407E-6 " pathEditMode="relative" rAng="0" ptsTypes="AAAAA">
                                      <p:cBhvr>
                                        <p:cTn id="18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46" y="310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72FA-F273-424C-AEFD-E3BF6973D60A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8590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Advantages</a:t>
            </a:r>
          </a:p>
          <a:p>
            <a:pPr lvl="1"/>
            <a:r>
              <a:rPr lang="en-US" dirty="0"/>
              <a:t>Interesting programming model</a:t>
            </a:r>
          </a:p>
          <a:p>
            <a:pPr lvl="1"/>
            <a:r>
              <a:rPr lang="en-US" dirty="0"/>
              <a:t>Integrates nicely with modern C++</a:t>
            </a:r>
          </a:p>
          <a:p>
            <a:pPr lvl="1"/>
            <a:r>
              <a:rPr lang="en-US" dirty="0"/>
              <a:t>Works with any compiler</a:t>
            </a:r>
          </a:p>
          <a:p>
            <a:pPr lvl="1"/>
            <a:r>
              <a:rPr lang="en-US" dirty="0"/>
              <a:t>Nice for heterogeneous hardware</a:t>
            </a:r>
          </a:p>
          <a:p>
            <a:r>
              <a:rPr lang="en-US" dirty="0"/>
              <a:t>Disadvantages</a:t>
            </a:r>
          </a:p>
          <a:p>
            <a:pPr lvl="1"/>
            <a:r>
              <a:rPr lang="en-US" dirty="0"/>
              <a:t>Thread affinity?</a:t>
            </a:r>
          </a:p>
          <a:p>
            <a:pPr lvl="1"/>
            <a:r>
              <a:rPr lang="en-US" dirty="0"/>
              <a:t>Code base critically depends on TBB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72FA-F273-424C-AEFD-E3BF6973D60A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619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Custom 9">
      <a:dk1>
        <a:srgbClr val="333639"/>
      </a:dk1>
      <a:lt1>
        <a:srgbClr val="F4F5FC"/>
      </a:lt1>
      <a:dk2>
        <a:srgbClr val="353A42"/>
      </a:dk2>
      <a:lt2>
        <a:srgbClr val="FFFFFF"/>
      </a:lt2>
      <a:accent1>
        <a:srgbClr val="DB6C30"/>
      </a:accent1>
      <a:accent2>
        <a:srgbClr val="DB6C30"/>
      </a:accent2>
      <a:accent3>
        <a:srgbClr val="DB6C30"/>
      </a:accent3>
      <a:accent4>
        <a:srgbClr val="DB6C30"/>
      </a:accent4>
      <a:accent5>
        <a:srgbClr val="DB6C30"/>
      </a:accent5>
      <a:accent6>
        <a:srgbClr val="AAB2BD"/>
      </a:accent6>
      <a:hlink>
        <a:srgbClr val="F8960D"/>
      </a:hlink>
      <a:folHlink>
        <a:srgbClr val="D70444"/>
      </a:folHlink>
    </a:clrScheme>
    <a:fontScheme name="VSC">
      <a:majorFont>
        <a:latin typeface="FlandersArtSans-Bold"/>
        <a:ea typeface=""/>
        <a:cs typeface=""/>
      </a:majorFont>
      <a:minorFont>
        <a:latin typeface="FlandersArtSans-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2748</Words>
  <Application>Microsoft Office PowerPoint</Application>
  <PresentationFormat>Widescreen</PresentationFormat>
  <Paragraphs>443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44" baseType="lpstr">
      <vt:lpstr>Arial</vt:lpstr>
      <vt:lpstr>Calibri</vt:lpstr>
      <vt:lpstr>Calibri Light</vt:lpstr>
      <vt:lpstr>Cambria Math</vt:lpstr>
      <vt:lpstr>Consolas</vt:lpstr>
      <vt:lpstr>FlandersArtSans-Bold</vt:lpstr>
      <vt:lpstr>FlandersArtSans-Medium</vt:lpstr>
      <vt:lpstr>FlandersArtSans-Regular</vt:lpstr>
      <vt:lpstr>Symbol</vt:lpstr>
      <vt:lpstr>Office Theme</vt:lpstr>
      <vt:lpstr>1_Office Theme</vt:lpstr>
      <vt:lpstr>Shared memory programming in C++ with Threading Building Blocks</vt:lpstr>
      <vt:lpstr>Introduction &amp; motivation</vt:lpstr>
      <vt:lpstr>Why shared memory programming?</vt:lpstr>
      <vt:lpstr>Options for C++?</vt:lpstr>
      <vt:lpstr>Whence TBB?</vt:lpstr>
      <vt:lpstr>What is TBB?</vt:lpstr>
      <vt:lpstr>Where to find info?</vt:lpstr>
      <vt:lpstr>C++ refresher</vt:lpstr>
      <vt:lpstr>C++ prerequisites</vt:lpstr>
      <vt:lpstr>Iterators</vt:lpstr>
      <vt:lpstr>Classes/structs defining operator()</vt:lpstr>
      <vt:lpstr>Lambda functions</vt:lpstr>
      <vt:lpstr>Lambda functions &amp; context</vt:lpstr>
      <vt:lpstr>Placement new</vt:lpstr>
      <vt:lpstr>TBB algorithms</vt:lpstr>
      <vt:lpstr>parallel_for: simplest form</vt:lpstr>
      <vt:lpstr>parallel_for: more control</vt:lpstr>
      <vt:lpstr>parallel_for: Julia sets</vt:lpstr>
      <vt:lpstr>parallel_reduce: simplest form</vt:lpstr>
      <vt:lpstr>parallel_reduce: class</vt:lpstr>
      <vt:lpstr>parallel_do</vt:lpstr>
      <vt:lpstr>no pipeline</vt:lpstr>
      <vt:lpstr>pipeline</vt:lpstr>
      <vt:lpstr>TBB tasks</vt:lpstr>
      <vt:lpstr>Task spawning</vt:lpstr>
      <vt:lpstr>Task spawning: granularity</vt:lpstr>
      <vt:lpstr>Task spawning: timings</vt:lpstr>
      <vt:lpstr>Tree traversal</vt:lpstr>
      <vt:lpstr>Flow graphs</vt:lpstr>
      <vt:lpstr>TBB scheduler</vt:lpstr>
      <vt:lpstr>TBB task scheduler</vt:lpstr>
      <vt:lpstr>Conclusions</vt:lpstr>
      <vt:lpstr>Conclusions</vt:lpstr>
    </vt:vector>
  </TitlesOfParts>
  <Company>UHasselt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Shared memory programming in C++ with Threading Building Blocks (TBB)</dc:title>
  <dc:creator>Geert Jan Bex</dc:creator>
  <cp:lastModifiedBy>Geert Jan Bex</cp:lastModifiedBy>
  <cp:revision>78</cp:revision>
  <dcterms:created xsi:type="dcterms:W3CDTF">2019-05-21T08:01:34Z</dcterms:created>
  <dcterms:modified xsi:type="dcterms:W3CDTF">2026-05-06T12:34:35Z</dcterms:modified>
</cp:coreProperties>
</file>